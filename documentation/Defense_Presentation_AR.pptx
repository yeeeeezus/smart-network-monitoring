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/>
                <a:cs typeface="Tahoma"/>
              </a:rPr>
              <a:t>- رحّب بأعضاء اللجنة وقدّم نفسك واسم المشرف قبل قراءة العنوان.
- اقرأ العنوان والجمَلة الفرعية بإيقاع هادئ — لا تستعجل في أول ثلاثين ثانية.
- أبرز سطر الشعار: التحول من ردّ الفعل المتأخّر إلى المراقبة الاستباقية هو خيط المناقشة الناظم.
- أشر سريعاً إلى المكدّس التقني في التذييل: Packet Tracer وPython وSNMPv2c وTelegram.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/>
                <a:cs typeface="Tahoma"/>
              </a:rPr>
              <a:t>- قدّم خريطة العرض في جملة واحدة: من المشكلة إلى التحقق مروراً بالبنية والتنفيذ.
- أشر إلى الأرقام الثلاثة في الجانب الأيسر: 6 أجهزة، مستويا تنبيه، و22 اختباراً ناجحاً — عُد إليها في الختام.
- نبّه اللجنة أن القسم الأخير يتضمن عرضاً حياً يُشغَّل أمامهم مباشرة.
- لا تقرأ الأقسام الستة بنداً بنداً — اذكرها كسرد واحد متصل.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/>
                <a:cs typeface="Tahoma"/>
              </a:rPr>
              <a:t>- ابدأ بقصة قصيرة: انقطاع في منتصف ليلة الامتحانات وصل عبر مكالمة طالب غاضب لا عبر نظام.
- قارن العمودين: الأيمن وضعٌ ندفع فيه ثمن العطل انتظاراً للشكوى، والأيسر ما بنيناه فعلاً.
- اختر بندين فقط للشرح — MTTR و«لا أرشيف» — ولا تقرأ القائمتين كاملتين.
- اربط FCAPS بالمشروع: نغطي مستويي Fault وPerformance من طرف إلى طرف ضمن إطار إدارة معياري.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/>
                <a:cs typeface="Tahoma"/>
              </a:rPr>
              <a:t>- اقرأ الأهداف الخمسة سريعاً ثم توقف عند O5: القياس هو ما يفصل المشروع عن العرض التقديمي.
- شدّد على أن لكل هدف معيار قبول قابل للفحص — أشر إلى علامات الصح أسفل كل بطاقة.
- O2 هو الجوهر الأكاديمي: تنفيذ البروتوكول من نص RFC مباشرة دون مكتبات جاهزة.
- اذكر عتبات CPU عند 70/85% والذاكرة عند 75/90% — ستعود إليها في شريحة منطق التنبيه.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/>
                <a:cs typeface="Tahoma"/>
              </a:rPr>
              <a:t>- اشرح الأدوار على الشكل: المدير يستقصي، الوكيل يجيب، ورسالة Trap تُدفَع دون سؤال.
- المنفذان في UDP: الرسائل الاستقصائية ذهاباً وإياباً على 161، والـTraps باتجاه واحد إلى 162.
- سلسلة community هي «كلمة السر» في الإصدار v2c — لذلك أبقيناها للقراءة فقط داخل المختبر.
- أشر إلى السطر الأخير: بنية كل رسالة وفق RFC 3416 وقد نفّذنا ترميز BER بأنفسنا في snmp_lite.py.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/>
                <a:cs typeface="Tahoma"/>
              </a:rPr>
              <a:t>- اشرح الفكرة المحورية: كل قيمة في SNMP لها عنوان رقمي فريد — اقرأ OID واحداً بصوت واضح مثل sysUpTime.
- فرعا الشجرة: mgmt القياسي المشترك بين المزوّدين، وprivate الخاص بـCisco الذي نقرأ منه CPU والذاكرة.
- في جدول المقارنة ركّز على الزمنين المقيسين: 1.4 ثانية للاستقصاء مقابل 0.4 ثانية للـTrap.
- اختم بالخلاصة: المستويان يتكاملان — الاستقصاء للاتجاهات والـTraps للأعطال الفورية.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/>
                <a:cs typeface="Tahoma"/>
              </a:rPr>
              <a:t>- اعرض المقايضة بصراحة: GNS3 يحاكي صور IOS حقيقية لكنه يتطلب صوراً مرخّصة ويستهلك ذاكرة عالية مع تعدد الموجّهات، بينما Packet Tracer مجاني عبر Networking Academy وخفيف ومناسب للطلاب.
- الحدّ الصادق: رزمة SNMP داخل Packet Tracer محاكاة غير قابلة للوصول من عملية Python خارجية، خلافاً لـGNS3 حيث تكون قابلة للوصول بشكل أصيل.
- القرار الهجين: Packet Tracer لمستوى تصميم الشبكة + وكلاء SNMP مطابقون للبروتوكول كمستوى بيانات حيّ بنفس OIDs الخاصة بـCisco ونفس community ونفس مضيف الـTraps.
- أكّد الجاهزية للإنتاج: الانتقال إلى موجّهات حقيقية يعني تعديل العناوين في ملف YAML واحد لا غير.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/>
                <a:cs typeface="Tahoma"/>
              </a:rPr>
              <a:t>- اقرأ الشكل من اليمين: ثلاثة مواقع واثنا عشر جهازاً، كلها مهيّأة في ملف pkt واحد يفتح مباشرة في Packet Tracer 8.2 دون أي إعداد يدوي.
- قصة التكرار: مثلث OSPF في المنطقة 0 بين R1 وR2 وR3 — لا يعزل قطعُ وصلةٍ واحدة أيَّ موقع، ويبقى مساران قائمان مهما انقطع.
- أشر إلى R3-HQ: أسلوب Router-on-a-stick يفصل VLAN 10 للمستخدمين عن VLAN 20 للإدارة عبر جذع فيزيائي واحد.
- مستوى الخدمات: SVR-MGMT يقدّم syslog وNTP على 192.168.20.50، وNMS-PC على 192.168.20.100 هو وجهة الـTraps والمستقصي معاً.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/>
                <a:cs typeface="Tahoma"/>
              </a:rPr>
              <a:t>- أشر إلى الهرمية: شبكات /30 للوصلات نقطة-إلى-نقطة بين الموجّهات، و/24 لكل شبكة محلية — خطة موثَّقة وقابلة للاختبار.
- كفاءة /30: نصف العناوين القابلة للاستخدام لكل وصلة على المقاطع نقطة-إلى-نقطة.
- جانب المركز: VLAN 10 للمستخدمين وVLAN 20 للإدارة يتقاسان جذع R3 عبر الواجهتين الفرعيتين Gi0/0.10 وGi0/0.20.
- ميّز NMS-PC على 192.168.20.100 — وجهة الـTraps والمستقصي التي تعتمد عليها الشرائح التالية.
- اختم بعناوين Loopback: من R1 1.1.1.1 إلى R4 8.8.8.8 — معرّفات OSPF ثابتة مستقلة عن الواجهات المادية.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/>
                <a:cs typeface="Tahoma"/>
              </a:rPr>
              <a:t>- اقرأ الأسطر الخمسة بهدوء — هذه هي تهيئة الجهاز بأكملها، وكل ما بعدها محرّك Python الخاص بنا.
- السطر 1: community للقراءة فقط عمداً — صلاحية RW تفتح رسائل SET أي تعديل الإعداد عن بُعد.
- السطران 2–3: location وcontact يظهران كـ sysLocation وsysContact ضمن OID بما يثبت هوية الوكيل أمام المستقصي.
- السطر 4: تُرسل الـTraps إلى NMS-PC على 192.168.20.100 بنفس community؛ السطر 5 يفعّل إشعارات حالة الوصلات والإعداد.
- طُبّقت التهيئة نفسها على 4 موجّهات + 2 مبدّلات — تحقّق مباشرة عبر show snmp.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/>
                <a:cs typeface="Tahoma"/>
              </a:rPr>
              <a:t>- وجّه الجمهور إلى الشكل: ثلاثة مستويات — الوكلاء المُحاكون في الأسفل، محرّك المراقبة في الوسط، وTelegram في الأعلى.
- snmp_lite.py: تنفيذ SNMPv2c من نص RFC مباشرة — مرمّز BER وGET وGETNEXT ورسائل Trap بالمكتبة القياسية فقط دون أي تبعيات.
- agent_sim.py: ستة وكلاء متوافقون مع Cisco بقيم CPU وذاكرة وifTable حيّة، مع بثّ Traps وسيناريوهات حوادث مبرمجة للعرض.
- monitor.py يربط كل شيء: المستقصي وآلة حالات العتبات ومستقبل الـTraps وموزّع التنبيهات مع طابور Telegram.
- اختم بالجملة: نفّذنا البروتوكول نفسه لا مجرد استدعاء مكتبة — كل بايت على السلك من صنعنا وقابل للشرح.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/>
                <a:cs typeface="Tahoma"/>
              </a:rPr>
              <a:t>- المبدأ الأساسي: حالة لكل (جهاز، مقياس) — التنبيهات تنطلق عند الانتقالات فقط لا عند تكرار القيم.
- اتبع الآلة من اليمين إلى اليسار: سليم ← تحذير عند CPU ≥ 70% أو ذاكرة ≥ 75%، ثم حرج عند CPU ≥ 85% أو ذاكرة ≥ 90%؛ مسار العودة المتقطع يرسل إشعار التعافي.
- دليل R1: تنبيه حرج واحد بالضبط خلال حادث CPU مستمر 52 ثانية — لا تكرار ما دامت الحالة قائمة.
- R2: مهلة SNMP تنبيه مستقل — علم DOWN للجهاز حتى يستجيب مجدداً فيعود UP.
- R3 وR4: إشعارات التعافي تُغلق الحلقة، وكل تنبيه يُلحق بـ alerts.jsonl مع طابعَي زمن الحدث والكشف.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/>
                <a:cs typeface="Tahoma"/>
              </a:rPr>
              <a:t>- البوت جاهز خلال دقائق: BotFather ثم /newbot ثم استخراج chat id من getUpdates — دون أي بنية تحتية إضافية.
- كل الأوامر تستعلم SNMP مباشرة: /status و/cpu و/ifaces و/alerts و/mute.
- الفقاعتان نمط فعلي: CRITICAL عند 93% ثم RESOLVED عند عودة CPU إلى 26% — 36 ثانية بين التنبيهين.
- الأمان: التخويل بالدردشة، والبوت يرفض المحادثات الأخرى، وسلسلة community لا تغادر المختبر.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/>
                <a:cs typeface="Tahoma"/>
              </a:rPr>
              <a:t>- جميع الأرقام ناتجة عن test_system.py: أمر واحد، دقيقتان ونصف، قابل لإعادة التشغيل أمام اللجنة.
- الفارق الجوهري: الـTrap يُبلَّغ في 0.4 ثانية بينما الاستقصاء يحتاج 1.4–3.9 ثانية بحسب توقيت الدورة.
- صف R3 Gi0/0 link down هو دليل كشف الأعطال اللحظية دون انتظار دورة الاستقصاء.
- 12 تنبيهاً في تمرين واحد تغطي تحذيراً وحرجاً وتعافياً — 22/22 اختباراً ناجحاً.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/>
                <a:cs typeface="Tahoma"/>
              </a:rPr>
              <a:t>- run_demo.sh يشغّل الوكلاء والمحرّك والبوت معاً — التنبيهات تصل إلى الهاتف في الزمن الحقيقي.
- التدرّج المقصود: تحذير عند 78% ثم حرج عند 93% على الجهاز نفسه — التنبيه عند الانتقال لا عند القيمة.
- الذروة عند 1:20: سقوط وصلة Gi0/0 في R3 ووصول Trap خلال 0.4 ثانية دون انتظار الاستقصاء.
- الختام يغلق الحلقة: LINK UP عند 2:20 ثم RESOLVED عند 2:45 — المشغّل يرى نهاية الحادث لا بدايته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/>
                <a:cs typeface="Tahoma"/>
              </a:rPr>
              <a:t>- الخمس إنجازات تعيد الأهداف O1–O5 واحدة واحدة — من المختبر إلى التحكّم التفاعلي.
- أبرز نقطة: جاهزية الإنتاج — الانتقال إلى عتاد حقيقي يعني تعديل العناوين في ملف YAML واحد فقط.
- الأفق الأقرب: SNMPv3 (المحرّك مهيَّأ له بنيوياً) ثم سلاسل زمنية مع Grafana.
- الطموح الأبعد: كشف الشذوذ بخطوط أساس تتعلّم تلقائياً بدل العتبات الثابتة.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/>
                <a:cs typeface="Tahoma"/>
              </a:rPr>
              <a:t>- اختم بجملة واحدة: من ردّ الفعل المتأخّر إلى المراقبة في الجيب.
- كل شيء قابل لإعادة التشغيل: المختبر والكود والاختبارات كلّها ضمن حزمة المشروع.
- أسئلة متوقعة: لماذا Packet Tracer؟ لماذا SNMPv2c وليس v3؟ كيف ننتقل إلى عتاد حقيقي؟
- إن سمح الوقت: تشغيل run_demo.sh مباشرة كعرض حي أمام اللجنة.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28713"/>
            <a:ext cx="2700338" cy="3071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28650" y="571500"/>
            <a:ext cx="7886700" cy="14288"/>
          </a:xfrm>
          <a:prstGeom prst="roundRect">
            <a:avLst>
              <a:gd name="adj" fmla="val 66664"/>
            </a:avLst>
          </a:prstGeom>
          <a:solidFill>
            <a:srgbClr val="0891B2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952822" y="785813"/>
            <a:ext cx="1176765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55E75"/>
                </a:solidFill>
                <a:latin typeface="Tahoma"/>
                <a:ea typeface="Carlito" pitchFamily="34" charset="-122"/>
                <a:cs typeface="Tahoma"/>
              </a:rPr>
              <a:t>مناقشة مشروع التخرج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34315" y="1042988"/>
            <a:ext cx="8281035" cy="582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4248"/>
              </a:lnSpc>
              <a:buNone/>
            </a:pPr>
            <a:r>
              <a:rPr lang="en-US" sz="3600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نظام مراقبة الشبكات </a:t>
            </a:r>
            <a:pPr algn="r" indent="0" marL="0">
              <a:lnSpc>
                <a:spcPts val="4248"/>
              </a:lnSpc>
              <a:buNone/>
            </a:pPr>
            <a:r>
              <a:rPr lang="en-US" sz="3600" b="1" dirty="0">
                <a:solidFill>
                  <a:srgbClr val="0891B2"/>
                </a:solidFill>
                <a:latin typeface="Tahoma"/>
                <a:ea typeface="Carlito" pitchFamily="34" charset="-122"/>
                <a:cs typeface="Tahoma"/>
              </a:rPr>
              <a:t>الذكي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28650" y="1725327"/>
            <a:ext cx="788670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مراقبة قائمة على بروتوكول SNMP باستخدام Python وتنبيهات Telegram فورية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0" y="2075371"/>
            <a:ext cx="8515350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69" i="1" dirty="0">
                <a:solidFill>
                  <a:srgbClr val="155E75"/>
                </a:solidFill>
                <a:latin typeface="Tahoma"/>
                <a:ea typeface="Carlito" pitchFamily="34" charset="-122"/>
                <a:cs typeface="Tahoma"/>
              </a:rPr>
              <a:t>من ردّ الفعل المتأخّر إلى المراقبة الاستباقية</a:t>
            </a:r>
            <a:endParaRPr lang="en-US" sz="1069" dirty="0"/>
          </a:p>
        </p:txBody>
      </p:sp>
      <p:sp>
        <p:nvSpPr>
          <p:cNvPr id="8" name="Text 6"/>
          <p:cNvSpPr/>
          <p:nvPr/>
        </p:nvSpPr>
        <p:spPr>
          <a:xfrm>
            <a:off x="628650" y="2468277"/>
            <a:ext cx="7886700" cy="14288"/>
          </a:xfrm>
          <a:prstGeom prst="roundRect">
            <a:avLst>
              <a:gd name="adj" fmla="val 66664"/>
            </a:avLst>
          </a:prstGeom>
          <a:solidFill>
            <a:srgbClr val="0891B2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2222" y="2729024"/>
            <a:ext cx="7879556" cy="1207294"/>
          </a:xfrm>
          <a:prstGeom prst="roundRect">
            <a:avLst>
              <a:gd name="adj" fmla="val 1104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40616" y="2946908"/>
            <a:ext cx="4010416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إعداد الطالب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40616" y="3096927"/>
            <a:ext cx="4010416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13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[اسم الطالب]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892969" y="2946908"/>
            <a:ext cx="3421856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المشرف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92969" y="3096927"/>
            <a:ext cx="3421856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13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[اسم المشرف]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3871055" y="3411252"/>
            <a:ext cx="4379976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الجامعة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58082" y="3561271"/>
            <a:ext cx="359294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13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[الجامعة — الكلية]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892969" y="3411252"/>
            <a:ext cx="3421856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العام الدراسي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2969" y="3561271"/>
            <a:ext cx="3421856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56" spc="28" kern="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2025/2026</a:t>
            </a:r>
            <a:endParaRPr lang="en-US" sz="956" dirty="0"/>
          </a:p>
        </p:txBody>
      </p:sp>
      <p:sp>
        <p:nvSpPr>
          <p:cNvPr id="18" name="Text 16"/>
          <p:cNvSpPr/>
          <p:nvPr/>
        </p:nvSpPr>
        <p:spPr>
          <a:xfrm>
            <a:off x="2765747" y="4707731"/>
            <a:ext cx="3612505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1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Cisco Packet Tracer 8.2 • Python 3 • SNMPv2c • Telegram Bot API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5369" y="400050"/>
            <a:ext cx="791394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55E75"/>
                </a:solidFill>
                <a:latin typeface="Tahoma"/>
                <a:ea typeface="Carlito" pitchFamily="34" charset="-122"/>
                <a:cs typeface="Tahoma"/>
              </a:rPr>
              <a:t>جدول المحتويات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" y="578644"/>
            <a:ext cx="8636000" cy="342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98"/>
              </a:lnSpc>
              <a:buNone/>
            </a:pPr>
            <a:r>
              <a:rPr lang="en-US" sz="2081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ما الذي سنعرضه</a:t>
            </a:r>
            <a:endParaRPr lang="en-US" sz="2081" dirty="0"/>
          </a:p>
        </p:txBody>
      </p:sp>
      <p:sp>
        <p:nvSpPr>
          <p:cNvPr id="4" name="Text 2"/>
          <p:cNvSpPr/>
          <p:nvPr/>
        </p:nvSpPr>
        <p:spPr>
          <a:xfrm>
            <a:off x="3952726" y="1070781"/>
            <a:ext cx="4730502" cy="3683384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956298" y="1722760"/>
            <a:ext cx="472335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3851" y="1332421"/>
            <a:ext cx="52578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94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294" dirty="0"/>
          </a:p>
        </p:txBody>
      </p:sp>
      <p:sp>
        <p:nvSpPr>
          <p:cNvPr id="7" name="Text 5"/>
          <p:cNvSpPr/>
          <p:nvPr/>
        </p:nvSpPr>
        <p:spPr>
          <a:xfrm>
            <a:off x="5907167" y="1272146"/>
            <a:ext cx="210097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6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المشكلة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6235445" y="1443596"/>
            <a:ext cx="1772699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63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لماذا تحتاج الشبكات إلى مراقبة استباقية</a:t>
            </a:r>
            <a:endParaRPr lang="en-US" sz="759" dirty="0"/>
          </a:p>
        </p:txBody>
      </p:sp>
      <p:sp>
        <p:nvSpPr>
          <p:cNvPr id="9" name="Shape 7"/>
          <p:cNvSpPr/>
          <p:nvPr/>
        </p:nvSpPr>
        <p:spPr>
          <a:xfrm>
            <a:off x="3956298" y="2317589"/>
            <a:ext cx="472335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3851" y="1927250"/>
            <a:ext cx="52578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94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294" dirty="0"/>
          </a:p>
        </p:txBody>
      </p:sp>
      <p:sp>
        <p:nvSpPr>
          <p:cNvPr id="11" name="Text 9"/>
          <p:cNvSpPr/>
          <p:nvPr/>
        </p:nvSpPr>
        <p:spPr>
          <a:xfrm>
            <a:off x="6691441" y="1866974"/>
            <a:ext cx="131670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6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أساسيات SNMP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6772331" y="2038424"/>
            <a:ext cx="1235813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كيف تتخاطب أجهزة الشبكة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56298" y="2912418"/>
            <a:ext cx="472335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3851" y="2522079"/>
            <a:ext cx="52578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94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294" dirty="0"/>
          </a:p>
        </p:txBody>
      </p:sp>
      <p:sp>
        <p:nvSpPr>
          <p:cNvPr id="15" name="Text 13"/>
          <p:cNvSpPr/>
          <p:nvPr/>
        </p:nvSpPr>
        <p:spPr>
          <a:xfrm>
            <a:off x="5538835" y="2461803"/>
            <a:ext cx="246930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6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المختبر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5924665" y="2633253"/>
            <a:ext cx="2083479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63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تصميم شبكة متعددة المواقع في Packet Tracer</a:t>
            </a:r>
            <a:endParaRPr lang="en-US" sz="759" dirty="0"/>
          </a:p>
        </p:txBody>
      </p:sp>
      <p:sp>
        <p:nvSpPr>
          <p:cNvPr id="17" name="Shape 15"/>
          <p:cNvSpPr/>
          <p:nvPr/>
        </p:nvSpPr>
        <p:spPr>
          <a:xfrm>
            <a:off x="3956298" y="3507246"/>
            <a:ext cx="472335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3851" y="3116907"/>
            <a:ext cx="52578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94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294" dirty="0"/>
          </a:p>
        </p:txBody>
      </p:sp>
      <p:sp>
        <p:nvSpPr>
          <p:cNvPr id="19" name="Text 17"/>
          <p:cNvSpPr/>
          <p:nvPr/>
        </p:nvSpPr>
        <p:spPr>
          <a:xfrm>
            <a:off x="6215205" y="3056632"/>
            <a:ext cx="179293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6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المحرّك</a:t>
            </a:r>
            <a:endParaRPr lang="en-US" sz="956" dirty="0"/>
          </a:p>
        </p:txBody>
      </p:sp>
      <p:sp>
        <p:nvSpPr>
          <p:cNvPr id="20" name="Text 18"/>
          <p:cNvSpPr/>
          <p:nvPr/>
        </p:nvSpPr>
        <p:spPr>
          <a:xfrm>
            <a:off x="6495352" y="3228082"/>
            <a:ext cx="1512792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63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استقصاء Python مع عتبات وTraps</a:t>
            </a:r>
            <a:endParaRPr lang="en-US" sz="759" dirty="0"/>
          </a:p>
        </p:txBody>
      </p:sp>
      <p:sp>
        <p:nvSpPr>
          <p:cNvPr id="21" name="Shape 19"/>
          <p:cNvSpPr/>
          <p:nvPr/>
        </p:nvSpPr>
        <p:spPr>
          <a:xfrm>
            <a:off x="3956298" y="4102075"/>
            <a:ext cx="472335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3851" y="3711736"/>
            <a:ext cx="52578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94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294" dirty="0"/>
          </a:p>
        </p:txBody>
      </p:sp>
      <p:sp>
        <p:nvSpPr>
          <p:cNvPr id="23" name="Text 21"/>
          <p:cNvSpPr/>
          <p:nvPr/>
        </p:nvSpPr>
        <p:spPr>
          <a:xfrm>
            <a:off x="6771275" y="3655033"/>
            <a:ext cx="1236869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6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Telegram</a:t>
            </a:r>
            <a:endParaRPr lang="en-US" sz="956" dirty="0"/>
          </a:p>
        </p:txBody>
      </p:sp>
      <p:sp>
        <p:nvSpPr>
          <p:cNvPr id="24" name="Text 22"/>
          <p:cNvSpPr/>
          <p:nvPr/>
        </p:nvSpPr>
        <p:spPr>
          <a:xfrm>
            <a:off x="6945210" y="3819339"/>
            <a:ext cx="1062934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63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تنبيهات وتحكّم في جيبك</a:t>
            </a:r>
            <a:endParaRPr lang="en-US" sz="759" dirty="0"/>
          </a:p>
        </p:txBody>
      </p:sp>
      <p:sp>
        <p:nvSpPr>
          <p:cNvPr id="25" name="Text 23"/>
          <p:cNvSpPr/>
          <p:nvPr/>
        </p:nvSpPr>
        <p:spPr>
          <a:xfrm>
            <a:off x="7953851" y="4306565"/>
            <a:ext cx="52578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94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294" dirty="0"/>
          </a:p>
        </p:txBody>
      </p:sp>
      <p:sp>
        <p:nvSpPr>
          <p:cNvPr id="26" name="Text 24"/>
          <p:cNvSpPr/>
          <p:nvPr/>
        </p:nvSpPr>
        <p:spPr>
          <a:xfrm>
            <a:off x="6762131" y="4246290"/>
            <a:ext cx="124601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6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التحقق</a:t>
            </a:r>
            <a:endParaRPr lang="en-US" sz="956" dirty="0"/>
          </a:p>
        </p:txBody>
      </p:sp>
      <p:sp>
        <p:nvSpPr>
          <p:cNvPr id="27" name="Text 25"/>
          <p:cNvSpPr/>
          <p:nvPr/>
        </p:nvSpPr>
        <p:spPr>
          <a:xfrm>
            <a:off x="6867263" y="4417740"/>
            <a:ext cx="1140881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نتائج مقيسة وعرض حي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1067209"/>
            <a:ext cx="3291929" cy="1134963"/>
          </a:xfrm>
          <a:prstGeom prst="roundRect">
            <a:avLst>
              <a:gd name="adj" fmla="val 117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57200" y="1070781"/>
            <a:ext cx="3291929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34842" y="1067209"/>
            <a:ext cx="0" cy="1134963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198601"/>
            <a:ext cx="3291929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0772" y="1067209"/>
            <a:ext cx="0" cy="11349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5957" y="1386111"/>
            <a:ext cx="878860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63"/>
              </a:lnSpc>
              <a:buNone/>
            </a:pPr>
            <a:r>
              <a:rPr lang="en-US" sz="2363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2363" dirty="0"/>
          </a:p>
        </p:txBody>
      </p:sp>
      <p:sp>
        <p:nvSpPr>
          <p:cNvPr id="34" name="Text 32"/>
          <p:cNvSpPr/>
          <p:nvPr/>
        </p:nvSpPr>
        <p:spPr>
          <a:xfrm>
            <a:off x="2860270" y="1743298"/>
            <a:ext cx="705328" cy="15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03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أجهزة مراقَبة</a:t>
            </a:r>
            <a:endParaRPr lang="en-US" sz="788" dirty="0"/>
          </a:p>
        </p:txBody>
      </p:sp>
      <p:sp>
        <p:nvSpPr>
          <p:cNvPr id="35" name="Text 33"/>
          <p:cNvSpPr/>
          <p:nvPr/>
        </p:nvSpPr>
        <p:spPr>
          <a:xfrm>
            <a:off x="650081" y="152753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2109" dirty="0"/>
          </a:p>
        </p:txBody>
      </p:sp>
      <p:sp>
        <p:nvSpPr>
          <p:cNvPr id="36" name="Text 34"/>
          <p:cNvSpPr/>
          <p:nvPr/>
        </p:nvSpPr>
        <p:spPr>
          <a:xfrm>
            <a:off x="457200" y="2345048"/>
            <a:ext cx="3291929" cy="1134963"/>
          </a:xfrm>
          <a:prstGeom prst="roundRect">
            <a:avLst>
              <a:gd name="adj" fmla="val 117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57200" y="2348619"/>
            <a:ext cx="3291929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34842" y="2345048"/>
            <a:ext cx="0" cy="1134963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476439"/>
            <a:ext cx="3291929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0772" y="2345048"/>
            <a:ext cx="0" cy="11349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22053" y="2663949"/>
            <a:ext cx="2112764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63"/>
              </a:lnSpc>
              <a:buNone/>
            </a:pPr>
            <a:r>
              <a:rPr lang="en-US" sz="2363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2363" dirty="0"/>
          </a:p>
        </p:txBody>
      </p:sp>
      <p:sp>
        <p:nvSpPr>
          <p:cNvPr id="42" name="Text 40"/>
          <p:cNvSpPr/>
          <p:nvPr/>
        </p:nvSpPr>
        <p:spPr>
          <a:xfrm>
            <a:off x="2108701" y="3021137"/>
            <a:ext cx="1426116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3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مستويا تنبيه — استقصاء وTraps</a:t>
            </a:r>
            <a:endParaRPr lang="en-US" sz="788" dirty="0"/>
          </a:p>
        </p:txBody>
      </p:sp>
      <p:sp>
        <p:nvSpPr>
          <p:cNvPr id="43" name="Text 41"/>
          <p:cNvSpPr/>
          <p:nvPr/>
        </p:nvSpPr>
        <p:spPr>
          <a:xfrm>
            <a:off x="650081" y="2805373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109" dirty="0"/>
          </a:p>
        </p:txBody>
      </p:sp>
      <p:sp>
        <p:nvSpPr>
          <p:cNvPr id="44" name="Text 42"/>
          <p:cNvSpPr/>
          <p:nvPr/>
        </p:nvSpPr>
        <p:spPr>
          <a:xfrm>
            <a:off x="457200" y="3622886"/>
            <a:ext cx="3291929" cy="1134963"/>
          </a:xfrm>
          <a:prstGeom prst="roundRect">
            <a:avLst>
              <a:gd name="adj" fmla="val 117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457200" y="3626458"/>
            <a:ext cx="3291929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34842" y="3622886"/>
            <a:ext cx="0" cy="1134963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4754277"/>
            <a:ext cx="3291929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0772" y="3622886"/>
            <a:ext cx="0" cy="11349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89636" y="3941787"/>
            <a:ext cx="1445181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63"/>
              </a:lnSpc>
              <a:buNone/>
            </a:pPr>
            <a:r>
              <a:rPr lang="en-US" sz="2363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22/22</a:t>
            </a:r>
            <a:endParaRPr lang="en-US" sz="2363" dirty="0"/>
          </a:p>
        </p:txBody>
      </p:sp>
      <p:sp>
        <p:nvSpPr>
          <p:cNvPr id="50" name="Text 48"/>
          <p:cNvSpPr/>
          <p:nvPr/>
        </p:nvSpPr>
        <p:spPr>
          <a:xfrm>
            <a:off x="2476222" y="4298975"/>
            <a:ext cx="1058595" cy="15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اختباراً آلياً ناجحاً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50081" y="4083211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10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3685" y="371475"/>
            <a:ext cx="359258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55E75"/>
                </a:solidFill>
                <a:latin typeface="Tahoma"/>
                <a:ea typeface="Carlito" pitchFamily="34" charset="-122"/>
                <a:cs typeface="Tahoma"/>
              </a:rPr>
              <a:t>الدافع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550069"/>
            <a:ext cx="8636000" cy="338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71"/>
              </a:lnSpc>
              <a:buNone/>
            </a:pPr>
            <a:r>
              <a:rPr lang="en-US" sz="2025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الشبكات تتعطّل قبل أن يشعر أحد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668441" y="1024458"/>
            <a:ext cx="4014788" cy="3008188"/>
          </a:xfrm>
          <a:prstGeom prst="roundRect">
            <a:avLst>
              <a:gd name="adj" fmla="val 4433"/>
            </a:avLst>
          </a:prstGeom>
          <a:solidFill>
            <a:srgbClr val="FEE2E2"/>
          </a:solidFill>
          <a:ln w="7144">
            <a:solidFill>
              <a:srgbClr val="DC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6629" y="1185193"/>
            <a:ext cx="1658689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41" b="1" dirty="0">
                <a:solidFill>
                  <a:srgbClr val="DC2626"/>
                </a:solidFill>
                <a:latin typeface="Tahoma"/>
                <a:ea typeface="Carlito" pitchFamily="34" charset="-122"/>
                <a:cs typeface="Tahoma"/>
              </a:rPr>
              <a:t>ردّ الفعل (الوضع الراهن)</a:t>
            </a:r>
            <a:endParaRPr lang="en-US" sz="1041" dirty="0"/>
          </a:p>
        </p:txBody>
      </p:sp>
      <p:sp>
        <p:nvSpPr>
          <p:cNvPr id="6" name="Text 4"/>
          <p:cNvSpPr/>
          <p:nvPr/>
        </p:nvSpPr>
        <p:spPr>
          <a:xfrm>
            <a:off x="8358188" y="1808262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DC26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7" name="Text 5"/>
          <p:cNvSpPr/>
          <p:nvPr/>
        </p:nvSpPr>
        <p:spPr>
          <a:xfrm>
            <a:off x="5656421" y="1793974"/>
            <a:ext cx="2623185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المستخدمون هم أول مستشعّر للعطل (مكالمات الدعم)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8358188" y="2325960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DC26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336" dirty="0"/>
          </a:p>
        </p:txBody>
      </p:sp>
      <p:sp>
        <p:nvSpPr>
          <p:cNvPr id="9" name="Text 7"/>
          <p:cNvSpPr/>
          <p:nvPr/>
        </p:nvSpPr>
        <p:spPr>
          <a:xfrm>
            <a:off x="6330180" y="2311673"/>
            <a:ext cx="1949427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زمن الإصلاح MTTR يزداد مع عدد الأجهزة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8358188" y="2843659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DC26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11" name="Text 9"/>
          <p:cNvSpPr/>
          <p:nvPr/>
        </p:nvSpPr>
        <p:spPr>
          <a:xfrm>
            <a:off x="5819285" y="2829371"/>
            <a:ext cx="2460321" cy="18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المشغّل يقفز بين طرفيات CLI عبر أكثر من </a:t>
            </a:r>
            <a:pPr algn="r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pPr algn="r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 أجهزة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8358188" y="3368501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DC26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336" dirty="0"/>
          </a:p>
        </p:txBody>
      </p:sp>
      <p:sp>
        <p:nvSpPr>
          <p:cNvPr id="13" name="Text 11"/>
          <p:cNvSpPr/>
          <p:nvPr/>
        </p:nvSpPr>
        <p:spPr>
          <a:xfrm>
            <a:off x="6142361" y="3354214"/>
            <a:ext cx="2137245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لا أرشيف — الحوادث تتلاشى بإغلاق الطرفية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460772" y="1024458"/>
            <a:ext cx="4014788" cy="3008188"/>
          </a:xfrm>
          <a:prstGeom prst="roundRect">
            <a:avLst>
              <a:gd name="adj" fmla="val 4433"/>
            </a:avLst>
          </a:prstGeom>
          <a:solidFill>
            <a:srgbClr val="D1FAE5"/>
          </a:solidFill>
          <a:ln w="7144">
            <a:solidFill>
              <a:srgbClr val="05966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35935" y="1185193"/>
            <a:ext cx="1621715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41" b="1" dirty="0">
                <a:solidFill>
                  <a:srgbClr val="059669"/>
                </a:solidFill>
                <a:latin typeface="Tahoma"/>
                <a:ea typeface="Carlito" pitchFamily="34" charset="-122"/>
                <a:cs typeface="Tahoma"/>
              </a:rPr>
              <a:t>الاستباق (هذا المشروع)</a:t>
            </a:r>
            <a:endParaRPr lang="en-US" sz="1041" dirty="0"/>
          </a:p>
        </p:txBody>
      </p:sp>
      <p:sp>
        <p:nvSpPr>
          <p:cNvPr id="16" name="Text 14"/>
          <p:cNvSpPr/>
          <p:nvPr/>
        </p:nvSpPr>
        <p:spPr>
          <a:xfrm>
            <a:off x="4150519" y="1808262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336" dirty="0"/>
          </a:p>
        </p:txBody>
      </p:sp>
      <p:sp>
        <p:nvSpPr>
          <p:cNvPr id="17" name="Text 15"/>
          <p:cNvSpPr/>
          <p:nvPr/>
        </p:nvSpPr>
        <p:spPr>
          <a:xfrm>
            <a:off x="1611376" y="1793974"/>
            <a:ext cx="2460562" cy="18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استقصاء CPU والذاكرة وحالة الواجهات كل </a:t>
            </a:r>
            <a:pPr algn="r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pPr algn="r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 ثانية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4150519" y="2333104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336" dirty="0"/>
          </a:p>
        </p:txBody>
      </p:sp>
      <p:sp>
        <p:nvSpPr>
          <p:cNvPr id="19" name="Text 17"/>
          <p:cNvSpPr/>
          <p:nvPr/>
        </p:nvSpPr>
        <p:spPr>
          <a:xfrm>
            <a:off x="2477412" y="2318817"/>
            <a:ext cx="1594525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العتبات تلتقط التدهور قبل الانهيار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4150519" y="2850803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336" dirty="0"/>
          </a:p>
        </p:txBody>
      </p:sp>
      <p:sp>
        <p:nvSpPr>
          <p:cNvPr id="21" name="Text 19"/>
          <p:cNvSpPr/>
          <p:nvPr/>
        </p:nvSpPr>
        <p:spPr>
          <a:xfrm>
            <a:off x="1787139" y="2836515"/>
            <a:ext cx="2284799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أعطال الوصلات تُبلَّغ عبر Traps في أقل من ثانية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4150519" y="3368501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23" name="Text 21"/>
          <p:cNvSpPr/>
          <p:nvPr/>
        </p:nvSpPr>
        <p:spPr>
          <a:xfrm>
            <a:off x="2243303" y="3354214"/>
            <a:ext cx="1828635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كل تنبيه مؤرَّخ ومحفوظ في سجل دائم</a:t>
            </a:r>
            <a:endParaRPr lang="en-US" sz="844" dirty="0"/>
          </a:p>
        </p:txBody>
      </p:sp>
      <p:sp>
        <p:nvSpPr>
          <p:cNvPr id="24" name="Text 22"/>
          <p:cNvSpPr/>
          <p:nvPr/>
        </p:nvSpPr>
        <p:spPr>
          <a:xfrm>
            <a:off x="460772" y="4182666"/>
            <a:ext cx="8222456" cy="614363"/>
          </a:xfrm>
          <a:prstGeom prst="roundRect">
            <a:avLst>
              <a:gd name="adj" fmla="val 2170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043989" y="4332684"/>
            <a:ext cx="1242761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72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نموذج الإدارة FCAPS</a:t>
            </a:r>
            <a:endParaRPr lang="en-US" sz="872" dirty="0"/>
          </a:p>
        </p:txBody>
      </p:sp>
      <p:sp>
        <p:nvSpPr>
          <p:cNvPr id="26" name="Text 24"/>
          <p:cNvSpPr/>
          <p:nvPr/>
        </p:nvSpPr>
        <p:spPr>
          <a:xfrm>
            <a:off x="8351044" y="432554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406" dirty="0"/>
          </a:p>
        </p:txBody>
      </p:sp>
      <p:sp>
        <p:nvSpPr>
          <p:cNvPr id="27" name="Text 25"/>
          <p:cNvSpPr/>
          <p:nvPr/>
        </p:nvSpPr>
        <p:spPr>
          <a:xfrm>
            <a:off x="6399126" y="4280964"/>
            <a:ext cx="779115" cy="232029"/>
          </a:xfrm>
          <a:prstGeom prst="roundRect">
            <a:avLst>
              <a:gd name="adj" fmla="val 32841"/>
            </a:avLst>
          </a:prstGeom>
          <a:solidFill>
            <a:srgbClr val="E0F2FE"/>
          </a:solidFill>
          <a:ln w="7144">
            <a:solidFill>
              <a:srgbClr val="0891B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63880" y="4343400"/>
            <a:ext cx="37769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731" dirty="0">
                <a:solidFill>
                  <a:srgbClr val="155E75"/>
                </a:solidFill>
                <a:latin typeface="Tahoma"/>
                <a:ea typeface="Carlito" pitchFamily="34" charset="-122"/>
                <a:cs typeface="Tahoma"/>
              </a:rPr>
              <a:t>الأعطال</a:t>
            </a:r>
            <a:endParaRPr lang="en-US" sz="731" dirty="0"/>
          </a:p>
        </p:txBody>
      </p:sp>
      <p:sp>
        <p:nvSpPr>
          <p:cNvPr id="29" name="Text 27"/>
          <p:cNvSpPr/>
          <p:nvPr/>
        </p:nvSpPr>
        <p:spPr>
          <a:xfrm>
            <a:off x="6721077" y="4343400"/>
            <a:ext cx="35925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Fault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11700" y="4280964"/>
            <a:ext cx="1115988" cy="232029"/>
          </a:xfrm>
          <a:prstGeom prst="roundRect">
            <a:avLst>
              <a:gd name="adj" fmla="val 3284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51452" y="4343400"/>
            <a:ext cx="37769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73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الإعداد</a:t>
            </a:r>
            <a:endParaRPr lang="en-US" sz="731" dirty="0"/>
          </a:p>
        </p:txBody>
      </p:sp>
      <p:sp>
        <p:nvSpPr>
          <p:cNvPr id="32" name="Text 30"/>
          <p:cNvSpPr/>
          <p:nvPr/>
        </p:nvSpPr>
        <p:spPr>
          <a:xfrm>
            <a:off x="5466699" y="4343400"/>
            <a:ext cx="76097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731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Configuration</a:t>
            </a:r>
            <a:endParaRPr lang="en-US" sz="731" dirty="0"/>
          </a:p>
        </p:txBody>
      </p:sp>
      <p:sp>
        <p:nvSpPr>
          <p:cNvPr id="33" name="Text 31"/>
          <p:cNvSpPr/>
          <p:nvPr/>
        </p:nvSpPr>
        <p:spPr>
          <a:xfrm>
            <a:off x="4022266" y="4280964"/>
            <a:ext cx="1117997" cy="232029"/>
          </a:xfrm>
          <a:prstGeom prst="roundRect">
            <a:avLst>
              <a:gd name="adj" fmla="val 3284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087367" y="4343400"/>
            <a:ext cx="427011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73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المحاسبة</a:t>
            </a:r>
            <a:endParaRPr lang="en-US" sz="731" dirty="0"/>
          </a:p>
        </p:txBody>
      </p:sp>
      <p:sp>
        <p:nvSpPr>
          <p:cNvPr id="35" name="Text 33"/>
          <p:cNvSpPr/>
          <p:nvPr/>
        </p:nvSpPr>
        <p:spPr>
          <a:xfrm>
            <a:off x="4385531" y="4343400"/>
            <a:ext cx="6709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Accounting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940100" y="4280964"/>
            <a:ext cx="1010729" cy="232029"/>
          </a:xfrm>
          <a:prstGeom prst="roundRect">
            <a:avLst>
              <a:gd name="adj" fmla="val 32841"/>
            </a:avLst>
          </a:prstGeom>
          <a:solidFill>
            <a:srgbClr val="E0F2FE"/>
          </a:solidFill>
          <a:ln w="7144">
            <a:solidFill>
              <a:srgbClr val="0891B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972361" y="4343400"/>
            <a:ext cx="328384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731" dirty="0">
                <a:solidFill>
                  <a:srgbClr val="155E75"/>
                </a:solidFill>
                <a:latin typeface="Tahoma"/>
                <a:ea typeface="Carlito" pitchFamily="34" charset="-122"/>
                <a:cs typeface="Tahoma"/>
              </a:rPr>
              <a:t>الأداء</a:t>
            </a:r>
            <a:endParaRPr lang="en-US" sz="731" dirty="0"/>
          </a:p>
        </p:txBody>
      </p:sp>
      <p:sp>
        <p:nvSpPr>
          <p:cNvPr id="38" name="Text 36"/>
          <p:cNvSpPr/>
          <p:nvPr/>
        </p:nvSpPr>
        <p:spPr>
          <a:xfrm>
            <a:off x="3129277" y="4343400"/>
            <a:ext cx="73330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052042" y="4280964"/>
            <a:ext cx="816620" cy="232029"/>
          </a:xfrm>
          <a:prstGeom prst="roundRect">
            <a:avLst>
              <a:gd name="adj" fmla="val 3284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112532" y="4343400"/>
            <a:ext cx="279071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731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الأمن</a:t>
            </a:r>
            <a:endParaRPr lang="en-US" sz="731" dirty="0"/>
          </a:p>
        </p:txBody>
      </p:sp>
      <p:sp>
        <p:nvSpPr>
          <p:cNvPr id="41" name="Text 39"/>
          <p:cNvSpPr/>
          <p:nvPr/>
        </p:nvSpPr>
        <p:spPr>
          <a:xfrm>
            <a:off x="2233415" y="4343400"/>
            <a:ext cx="54628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0081" y="4572000"/>
            <a:ext cx="78438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هذا المشروع يملك مستويا الأعطال والأداء من طرف إلى طرف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411266" y="2367818"/>
            <a:ext cx="321469" cy="321469"/>
          </a:xfrm>
          <a:prstGeom prst="ellipse">
            <a:avLst/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95250" dist="19050" dir="5400000">
              <a:srgbClr val="0F2A43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458057" y="241461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154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7709" y="371475"/>
            <a:ext cx="429054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55E75"/>
                </a:solidFill>
                <a:latin typeface="Tahoma"/>
                <a:ea typeface="Carlito" pitchFamily="34" charset="-122"/>
                <a:cs typeface="Tahoma"/>
              </a:rPr>
              <a:t>الأهداف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" y="550069"/>
            <a:ext cx="8636000" cy="338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71"/>
              </a:lnSpc>
              <a:buNone/>
            </a:pPr>
            <a:r>
              <a:rPr lang="en-US" sz="2025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خمسة أهداف قابلة للقياس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6042496" y="1024458"/>
            <a:ext cx="2640732" cy="1804132"/>
          </a:xfrm>
          <a:prstGeom prst="roundRect">
            <a:avLst>
              <a:gd name="adj" fmla="val 739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19501" y="1160618"/>
            <a:ext cx="299810" cy="192024"/>
          </a:xfrm>
          <a:prstGeom prst="roundRect">
            <a:avLst>
              <a:gd name="adj" fmla="val 34722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30605" y="1170905"/>
            <a:ext cx="2776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518" y="117804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8" name="Text 6"/>
          <p:cNvSpPr/>
          <p:nvPr/>
        </p:nvSpPr>
        <p:spPr>
          <a:xfrm>
            <a:off x="6217518" y="1442368"/>
            <a:ext cx="2290688" cy="405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77"/>
              </a:lnSpc>
              <a:buNone/>
            </a:pPr>
            <a:r>
              <a:rPr lang="en-US" sz="98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بناء مختبر متعدد المواقع موثَّق في Packet Tracer 8.2</a:t>
            </a:r>
            <a:endParaRPr lang="en-US" sz="984" dirty="0"/>
          </a:p>
        </p:txBody>
      </p:sp>
      <p:sp>
        <p:nvSpPr>
          <p:cNvPr id="9" name="Shape 7"/>
          <p:cNvSpPr/>
          <p:nvPr/>
        </p:nvSpPr>
        <p:spPr>
          <a:xfrm>
            <a:off x="6217518" y="2293925"/>
            <a:ext cx="22906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79619" y="23903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1" name="Text 9"/>
          <p:cNvSpPr/>
          <p:nvPr/>
        </p:nvSpPr>
        <p:spPr>
          <a:xfrm>
            <a:off x="6217518" y="2383222"/>
            <a:ext cx="2097807" cy="298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مثلث OSPF وفصل VLAN وتفعيل SNMP على الموجّهات والمبدّلات الستة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51634" y="1024458"/>
            <a:ext cx="2640843" cy="1804132"/>
          </a:xfrm>
          <a:prstGeom prst="roundRect">
            <a:avLst>
              <a:gd name="adj" fmla="val 739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28750" y="1160618"/>
            <a:ext cx="299810" cy="192024"/>
          </a:xfrm>
          <a:prstGeom prst="roundRect">
            <a:avLst>
              <a:gd name="adj" fmla="val 34722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39854" y="1170905"/>
            <a:ext cx="2776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26656" y="117804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6" name="Text 14"/>
          <p:cNvSpPr/>
          <p:nvPr/>
        </p:nvSpPr>
        <p:spPr>
          <a:xfrm>
            <a:off x="3426656" y="1442368"/>
            <a:ext cx="2290800" cy="20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77"/>
              </a:lnSpc>
              <a:buNone/>
            </a:pPr>
            <a:r>
              <a:rPr lang="en-US" sz="98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تنفيذ SNMPv2c على مستوى البروتوكول</a:t>
            </a:r>
            <a:endParaRPr lang="en-US" sz="984" dirty="0"/>
          </a:p>
        </p:txBody>
      </p:sp>
      <p:sp>
        <p:nvSpPr>
          <p:cNvPr id="17" name="Shape 15"/>
          <p:cNvSpPr/>
          <p:nvPr/>
        </p:nvSpPr>
        <p:spPr>
          <a:xfrm>
            <a:off x="3426656" y="2293925"/>
            <a:ext cx="22908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8868" y="23903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3426656" y="2383222"/>
            <a:ext cx="2097918" cy="298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مرمّز BER/ASN.1 ورسائل GET وGETNEXT وTrap دون أي مكتبات خارجية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0883" y="1024458"/>
            <a:ext cx="2640732" cy="1804132"/>
          </a:xfrm>
          <a:prstGeom prst="roundRect">
            <a:avLst>
              <a:gd name="adj" fmla="val 739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37888" y="1160618"/>
            <a:ext cx="299810" cy="192024"/>
          </a:xfrm>
          <a:prstGeom prst="roundRect">
            <a:avLst>
              <a:gd name="adj" fmla="val 34722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48992" y="1170905"/>
            <a:ext cx="2776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5905" y="117804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635905" y="1442368"/>
            <a:ext cx="2290688" cy="20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77"/>
              </a:lnSpc>
              <a:buNone/>
            </a:pPr>
            <a:r>
              <a:rPr lang="en-US" sz="98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محرّك عتبات يعمل بوصفه آلة حالات</a:t>
            </a:r>
            <a:endParaRPr lang="en-US" sz="984" dirty="0"/>
          </a:p>
        </p:txBody>
      </p:sp>
      <p:sp>
        <p:nvSpPr>
          <p:cNvPr id="25" name="Shape 23"/>
          <p:cNvSpPr/>
          <p:nvPr/>
        </p:nvSpPr>
        <p:spPr>
          <a:xfrm>
            <a:off x="635905" y="2286781"/>
            <a:ext cx="22906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98006" y="23832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635905" y="2376078"/>
            <a:ext cx="2097807" cy="306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CPU عند </a:t>
            </a:r>
            <a:pPr algn="r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70/85%</a:t>
            </a:r>
            <a:pPr algn="r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والذاكرة عند </a:t>
            </a:r>
            <a:pPr algn="r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75/90%</a:t>
            </a:r>
            <a:pPr algn="r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والتنبيه عند الانتقالات فقط مع إشعارات تعافٍ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47121" y="2978609"/>
            <a:ext cx="4036107" cy="1804132"/>
          </a:xfrm>
          <a:prstGeom prst="roundRect">
            <a:avLst>
              <a:gd name="adj" fmla="val 739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219501" y="3114769"/>
            <a:ext cx="299810" cy="192024"/>
          </a:xfrm>
          <a:prstGeom prst="roundRect">
            <a:avLst>
              <a:gd name="adj" fmla="val 34722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230605" y="3125056"/>
            <a:ext cx="2776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22143" y="313220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547" dirty="0"/>
          </a:p>
        </p:txBody>
      </p:sp>
      <p:sp>
        <p:nvSpPr>
          <p:cNvPr id="32" name="Text 30"/>
          <p:cNvSpPr/>
          <p:nvPr/>
        </p:nvSpPr>
        <p:spPr>
          <a:xfrm>
            <a:off x="4822143" y="3396518"/>
            <a:ext cx="3686063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77"/>
              </a:lnSpc>
              <a:buNone/>
            </a:pPr>
            <a:r>
              <a:rPr lang="en-US" sz="98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قناة تنبيه عبر Telegram</a:t>
            </a:r>
            <a:endParaRPr lang="en-US" sz="984" dirty="0"/>
          </a:p>
        </p:txBody>
      </p:sp>
      <p:sp>
        <p:nvSpPr>
          <p:cNvPr id="33" name="Shape 31"/>
          <p:cNvSpPr/>
          <p:nvPr/>
        </p:nvSpPr>
        <p:spPr>
          <a:xfrm>
            <a:off x="4822143" y="4390392"/>
            <a:ext cx="36860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79619" y="44868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5038465" y="4479689"/>
            <a:ext cx="3276860" cy="156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دفع التنبيهات مع أوامر تفاعلية </a:t>
            </a:r>
            <a:pPr algn="r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/status</a:t>
            </a:r>
            <a:pPr algn="r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و</a:t>
            </a:r>
            <a:pPr algn="r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/cpu</a:t>
            </a:r>
            <a:pPr algn="r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و</a:t>
            </a:r>
            <a:pPr algn="r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/ifaces</a:t>
            </a:r>
            <a:pPr algn="r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و</a:t>
            </a:r>
            <a:pPr algn="r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/alerts</a:t>
            </a:r>
            <a:pPr algn="r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و</a:t>
            </a:r>
            <a:pPr algn="r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/mute</a:t>
            </a:r>
            <a:endParaRPr lang="en-US" sz="759" dirty="0"/>
          </a:p>
        </p:txBody>
      </p:sp>
      <p:sp>
        <p:nvSpPr>
          <p:cNvPr id="36" name="Text 34"/>
          <p:cNvSpPr/>
          <p:nvPr/>
        </p:nvSpPr>
        <p:spPr>
          <a:xfrm>
            <a:off x="460883" y="2978609"/>
            <a:ext cx="4036219" cy="1804132"/>
          </a:xfrm>
          <a:prstGeom prst="roundRect">
            <a:avLst>
              <a:gd name="adj" fmla="val 739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033375" y="3114769"/>
            <a:ext cx="299810" cy="192024"/>
          </a:xfrm>
          <a:prstGeom prst="roundRect">
            <a:avLst>
              <a:gd name="adj" fmla="val 34722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044479" y="3125056"/>
            <a:ext cx="2776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5905" y="313220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40" name="Text 38"/>
          <p:cNvSpPr/>
          <p:nvPr/>
        </p:nvSpPr>
        <p:spPr>
          <a:xfrm>
            <a:off x="635905" y="3396518"/>
            <a:ext cx="3686175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77"/>
              </a:lnSpc>
              <a:buNone/>
            </a:pPr>
            <a:r>
              <a:rPr lang="en-US" sz="98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إثبات عمل النظام</a:t>
            </a:r>
            <a:endParaRPr lang="en-US" sz="984" dirty="0"/>
          </a:p>
        </p:txBody>
      </p:sp>
      <p:sp>
        <p:nvSpPr>
          <p:cNvPr id="41" name="Shape 39"/>
          <p:cNvSpPr/>
          <p:nvPr/>
        </p:nvSpPr>
        <p:spPr>
          <a:xfrm>
            <a:off x="635905" y="4390392"/>
            <a:ext cx="36861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93493" y="44868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3" name="Text 41"/>
          <p:cNvSpPr/>
          <p:nvPr/>
        </p:nvSpPr>
        <p:spPr>
          <a:xfrm>
            <a:off x="1592570" y="4479689"/>
            <a:ext cx="2536630" cy="156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</a:t>
            </a:r>
            <a:pPr algn="r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اختباراً آلياً من طرف إلى طرف مع قياس زمن الكشف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6722" y="342900"/>
            <a:ext cx="757286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55E75"/>
                </a:solidFill>
                <a:latin typeface="Tahoma"/>
                <a:ea typeface="Carlito" pitchFamily="34" charset="-122"/>
                <a:cs typeface="Tahoma"/>
              </a:rPr>
              <a:t>الأساسيات 1/2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521494"/>
            <a:ext cx="8636000" cy="338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71"/>
              </a:lnSpc>
              <a:buNone/>
            </a:pPr>
            <a:r>
              <a:rPr lang="en-US" sz="2025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SNMP — مدير ووكيل ومنفذا UDP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60772" y="967308"/>
            <a:ext cx="8222456" cy="3240360"/>
          </a:xfrm>
          <a:prstGeom prst="roundRect">
            <a:avLst>
              <a:gd name="adj" fmla="val 411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h2p-fit-1792100867545-bwok4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8266" y="1070893"/>
            <a:ext cx="4747580" cy="3033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3409" y="4329113"/>
            <a:ext cx="2659819" cy="28575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443913" y="4404122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336" dirty="0"/>
          </a:p>
        </p:txBody>
      </p:sp>
      <p:sp>
        <p:nvSpPr>
          <p:cNvPr id="8" name="Text 5"/>
          <p:cNvSpPr/>
          <p:nvPr/>
        </p:nvSpPr>
        <p:spPr>
          <a:xfrm>
            <a:off x="6127819" y="4407024"/>
            <a:ext cx="2244656" cy="132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GET / GETNEXT → UDP 161</a:t>
            </a:r>
            <a:pPr algn="r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 — مستوى الاستقصاء</a:t>
            </a:r>
            <a:endParaRPr lang="en-US" sz="731" dirty="0"/>
          </a:p>
        </p:txBody>
      </p:sp>
      <p:sp>
        <p:nvSpPr>
          <p:cNvPr id="9" name="Text 6"/>
          <p:cNvSpPr/>
          <p:nvPr/>
        </p:nvSpPr>
        <p:spPr>
          <a:xfrm>
            <a:off x="3242146" y="4329113"/>
            <a:ext cx="2659819" cy="28575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662650" y="4404122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336" dirty="0"/>
          </a:p>
        </p:txBody>
      </p:sp>
      <p:sp>
        <p:nvSpPr>
          <p:cNvPr id="11" name="Text 8"/>
          <p:cNvSpPr/>
          <p:nvPr/>
        </p:nvSpPr>
        <p:spPr>
          <a:xfrm>
            <a:off x="3679277" y="4407024"/>
            <a:ext cx="1911935" cy="132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Trap → UDP 162</a:t>
            </a:r>
            <a:pPr algn="r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 — المستوى غير المتزامن</a:t>
            </a:r>
            <a:endParaRPr lang="en-US" sz="731" dirty="0"/>
          </a:p>
        </p:txBody>
      </p:sp>
      <p:sp>
        <p:nvSpPr>
          <p:cNvPr id="12" name="Text 9"/>
          <p:cNvSpPr/>
          <p:nvPr/>
        </p:nvSpPr>
        <p:spPr>
          <a:xfrm>
            <a:off x="460883" y="4329113"/>
            <a:ext cx="2659819" cy="28575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881387" y="4404122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336" dirty="0"/>
          </a:p>
        </p:txBody>
      </p:sp>
      <p:sp>
        <p:nvSpPr>
          <p:cNvPr id="14" name="Text 11"/>
          <p:cNvSpPr/>
          <p:nvPr/>
        </p:nvSpPr>
        <p:spPr>
          <a:xfrm>
            <a:off x="996383" y="4407024"/>
            <a:ext cx="1813566" cy="132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سلسلة Community — مصادقة الإصدار v2c</a:t>
            </a:r>
            <a:endParaRPr lang="en-US" sz="731" dirty="0"/>
          </a:p>
        </p:txBody>
      </p:sp>
      <p:sp>
        <p:nvSpPr>
          <p:cNvPr id="15" name="Text 12"/>
          <p:cNvSpPr/>
          <p:nvPr/>
        </p:nvSpPr>
        <p:spPr>
          <a:xfrm>
            <a:off x="457200" y="4704159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كل رسالة = إصدار + community + PDU بترميز BER وفق RFC 3416 — نفّذنا هذا التنسيق بأنفسنا في 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snmp_lite.py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6722" y="371475"/>
            <a:ext cx="757286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55E75"/>
                </a:solidFill>
                <a:latin typeface="Tahoma"/>
                <a:ea typeface="Carlito" pitchFamily="34" charset="-122"/>
                <a:cs typeface="Tahoma"/>
              </a:rPr>
              <a:t>الأساسيات 2/2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" y="550069"/>
            <a:ext cx="8636000" cy="338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71"/>
              </a:lnSpc>
              <a:buNone/>
            </a:pPr>
            <a:r>
              <a:rPr lang="en-US" sz="2025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كل شيء رقمٌ في شجرة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338935" y="1024458"/>
            <a:ext cx="4344293" cy="3772570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15473" y="1035174"/>
            <a:ext cx="2242727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قاعدة MIB — مستودع المعلومات المُدارة</a:t>
            </a:r>
            <a:endParaRPr lang="en-US" sz="928" dirty="0"/>
          </a:p>
        </p:txBody>
      </p:sp>
      <p:sp>
        <p:nvSpPr>
          <p:cNvPr id="6" name="Text 4"/>
          <p:cNvSpPr/>
          <p:nvPr/>
        </p:nvSpPr>
        <p:spPr>
          <a:xfrm>
            <a:off x="8529638" y="1028030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477" dirty="0"/>
          </a:p>
        </p:txBody>
      </p:sp>
      <p:sp>
        <p:nvSpPr>
          <p:cNvPr id="7" name="Text 5"/>
          <p:cNvSpPr/>
          <p:nvPr/>
        </p:nvSpPr>
        <p:spPr>
          <a:xfrm>
            <a:off x="4346079" y="1281633"/>
            <a:ext cx="4330005" cy="3508251"/>
          </a:xfrm>
          <a:prstGeom prst="roundRect">
            <a:avLst>
              <a:gd name="adj" fmla="val 271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06813" y="2378534"/>
            <a:ext cx="400853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6813" y="2160650"/>
            <a:ext cx="4118265" cy="239173"/>
          </a:xfrm>
          <a:prstGeom prst="rect">
            <a:avLst/>
          </a:prstGeom>
          <a:noFill/>
          <a:ln/>
        </p:spPr>
        <p:txBody>
          <a:bodyPr wrap="square" lIns="0" tIns="0" rIns="0" bIns="85725" rtlCol="0" anchor="t"/>
          <a:lstStyle/>
          <a:p>
            <a:pPr algn="l" indent="0" marL="0">
              <a:buNone/>
            </a:pPr>
            <a:r>
              <a:rPr lang="en-US" sz="872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iso(1) → org(3) → dod(6) → internet(1)</a:t>
            </a:r>
            <a:endParaRPr lang="en-US" sz="872" dirty="0"/>
          </a:p>
        </p:txBody>
      </p:sp>
      <p:sp>
        <p:nvSpPr>
          <p:cNvPr id="10" name="Shape 8"/>
          <p:cNvSpPr/>
          <p:nvPr/>
        </p:nvSpPr>
        <p:spPr>
          <a:xfrm>
            <a:off x="4513957" y="2496406"/>
            <a:ext cx="0" cy="1414463"/>
          </a:xfrm>
          <a:prstGeom prst="line">
            <a:avLst/>
          </a:prstGeom>
          <a:noFill/>
          <a:ln w="14288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9691" y="2486119"/>
            <a:ext cx="711205" cy="192024"/>
          </a:xfrm>
          <a:prstGeom prst="roundRect">
            <a:avLst>
              <a:gd name="adj" fmla="val 29762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92551" y="2496406"/>
            <a:ext cx="6654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mgmt(2.1)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78288" y="2739293"/>
            <a:ext cx="77494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sysUpTime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63071" y="2846450"/>
            <a:ext cx="2114773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dot"/>
          </a:ln>
        </p:spPr>
      </p:sp>
      <p:sp>
        <p:nvSpPr>
          <p:cNvPr id="15" name="Text 13"/>
          <p:cNvSpPr/>
          <p:nvPr/>
        </p:nvSpPr>
        <p:spPr>
          <a:xfrm>
            <a:off x="7620707" y="2742865"/>
            <a:ext cx="894643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.1.3.6.1.2.1.1.3</a:t>
            </a:r>
            <a:endParaRPr lang="en-US" sz="731" dirty="0"/>
          </a:p>
        </p:txBody>
      </p:sp>
      <p:sp>
        <p:nvSpPr>
          <p:cNvPr id="16" name="Text 14"/>
          <p:cNvSpPr/>
          <p:nvPr/>
        </p:nvSpPr>
        <p:spPr>
          <a:xfrm>
            <a:off x="4878288" y="2925031"/>
            <a:ext cx="90329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ifOperStatus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643786" y="3032187"/>
            <a:ext cx="171037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dot"/>
          </a:ln>
        </p:spPr>
      </p:sp>
      <p:sp>
        <p:nvSpPr>
          <p:cNvPr id="18" name="Text 16"/>
          <p:cNvSpPr/>
          <p:nvPr/>
        </p:nvSpPr>
        <p:spPr>
          <a:xfrm>
            <a:off x="7397018" y="2928603"/>
            <a:ext cx="111833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.1.3.6.1.2.1.2.2.1.8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4878288" y="3110768"/>
            <a:ext cx="752745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ifInOctets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23347" y="3217925"/>
            <a:ext cx="177488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dot"/>
          </a:ln>
        </p:spPr>
      </p:sp>
      <p:sp>
        <p:nvSpPr>
          <p:cNvPr id="21" name="Text 19"/>
          <p:cNvSpPr/>
          <p:nvPr/>
        </p:nvSpPr>
        <p:spPr>
          <a:xfrm>
            <a:off x="7341096" y="3114340"/>
            <a:ext cx="1174254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.1.3.6.1.2.1.2.2.1.10</a:t>
            </a:r>
            <a:endParaRPr lang="en-US" sz="731" dirty="0"/>
          </a:p>
        </p:txBody>
      </p:sp>
      <p:sp>
        <p:nvSpPr>
          <p:cNvPr id="22" name="Text 20"/>
          <p:cNvSpPr/>
          <p:nvPr/>
        </p:nvSpPr>
        <p:spPr>
          <a:xfrm>
            <a:off x="4692551" y="3367943"/>
            <a:ext cx="2465375" cy="17145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92551" y="3367943"/>
            <a:ext cx="2465375" cy="195072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private(4.1) → enterprises(9) → cisco(9)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78288" y="3610831"/>
            <a:ext cx="1354801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cpmCPUTotal5minRev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04992" y="3717987"/>
            <a:ext cx="790054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dot"/>
          </a:ln>
        </p:spPr>
      </p:sp>
      <p:sp>
        <p:nvSpPr>
          <p:cNvPr id="26" name="Text 24"/>
          <p:cNvSpPr/>
          <p:nvPr/>
        </p:nvSpPr>
        <p:spPr>
          <a:xfrm>
            <a:off x="6837908" y="3614403"/>
            <a:ext cx="1778088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.1.3.6.1.4.1.9.9.109.1.1.1.1.8</a:t>
            </a:r>
            <a:endParaRPr lang="en-US" sz="731" dirty="0"/>
          </a:p>
        </p:txBody>
      </p:sp>
      <p:sp>
        <p:nvSpPr>
          <p:cNvPr id="27" name="Text 25"/>
          <p:cNvSpPr/>
          <p:nvPr/>
        </p:nvSpPr>
        <p:spPr>
          <a:xfrm>
            <a:off x="4878288" y="3796568"/>
            <a:ext cx="143014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ciscoMemoryPoolUsed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065267" y="3903725"/>
            <a:ext cx="897545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dot"/>
          </a:ln>
        </p:spPr>
      </p:sp>
      <p:sp>
        <p:nvSpPr>
          <p:cNvPr id="29" name="Text 27"/>
          <p:cNvSpPr/>
          <p:nvPr/>
        </p:nvSpPr>
        <p:spPr>
          <a:xfrm>
            <a:off x="7005675" y="3800140"/>
            <a:ext cx="16002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.1.3.6.1.4.1.9.9.48.1.1.1.5</a:t>
            </a:r>
            <a:endParaRPr lang="en-US" sz="731" dirty="0"/>
          </a:p>
        </p:txBody>
      </p:sp>
      <p:sp>
        <p:nvSpPr>
          <p:cNvPr id="30" name="Text 28"/>
          <p:cNvSpPr/>
          <p:nvPr/>
        </p:nvSpPr>
        <p:spPr>
          <a:xfrm>
            <a:off x="460772" y="1024458"/>
            <a:ext cx="3699570" cy="377257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460101" y="1035174"/>
            <a:ext cx="1475212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28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الاستقصاء مقابل Traps</a:t>
            </a:r>
            <a:endParaRPr lang="en-US" sz="928" dirty="0"/>
          </a:p>
        </p:txBody>
      </p:sp>
      <p:sp>
        <p:nvSpPr>
          <p:cNvPr id="32" name="Text 30"/>
          <p:cNvSpPr/>
          <p:nvPr/>
        </p:nvSpPr>
        <p:spPr>
          <a:xfrm>
            <a:off x="4006751" y="1028030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477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344" y="1278062"/>
          <a:ext cx="3692426" cy="914400"/>
        </p:xfrm>
        <a:graphic>
          <a:graphicData uri="http://schemas.openxmlformats.org/drawingml/2006/table">
            <a:tbl>
              <a:tblPr/>
              <a:tblGrid>
                <a:gridCol w="913954"/>
                <a:gridCol w="686805"/>
                <a:gridCol w="1224483"/>
                <a:gridCol w="867184"/>
              </a:tblGrid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المستوى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الاتجاه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زمن الاستجابة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الأفضل لـ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الاستقصاءGET كل 15 ثانية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85725" marT="85725" marB="10001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مدير ← وكيل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85725" marT="85725" marB="10001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≤ الفاصل + 1.4 ث (مقيس)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85725" marT="85725" marB="10001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الاتجاهات والعتبات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85725" marT="85725" marB="10001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Trapsدفع UDP عند الحدث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85725" marT="85725" marB="10001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وكيل ← مدير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85725" marT="85725" marB="10001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0.4 ث (مقيس)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85725" marT="85725" marB="10001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الأعطال اللحظية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85725" marT="85725" marB="10001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464344" y="4477345"/>
            <a:ext cx="3692426" cy="316111"/>
          </a:xfrm>
          <a:prstGeom prst="roundRect">
            <a:avLst>
              <a:gd name="adj" fmla="val 2410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3913882" y="457110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36" name="Text 33"/>
          <p:cNvSpPr/>
          <p:nvPr/>
        </p:nvSpPr>
        <p:spPr>
          <a:xfrm>
            <a:off x="666713" y="4563070"/>
            <a:ext cx="3175732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155E75"/>
                </a:solidFill>
                <a:latin typeface="Tahoma"/>
                <a:ea typeface="Carlito" pitchFamily="34" charset="-122"/>
                <a:cs typeface="Tahoma"/>
              </a:rPr>
              <a:t>النظام يستخدم المستويين معاً: الاستقصاء للاتجاهات والـTraps للأعطال الفورية</a:t>
            </a:r>
            <a:endParaRPr lang="en-US" sz="75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5763"/>
            <a:ext cx="8636000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891B2"/>
                </a:solidFill>
                <a:latin typeface="Tahoma"/>
                <a:ea typeface="Carlito" pitchFamily="34" charset="-122"/>
                <a:cs typeface="Tahoma"/>
              </a:rPr>
              <a:t>بيئة المحاكاة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525066"/>
            <a:ext cx="8636000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لماذا Packet Tracer — وأين حدّه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8625" y="870756"/>
          <a:ext cx="8286750" cy="914400"/>
        </p:xfrm>
        <a:graphic>
          <a:graphicData uri="http://schemas.openxmlformats.org/drawingml/2006/table">
            <a:tbl>
              <a:tblPr/>
              <a:tblGrid>
                <a:gridCol w="2150827"/>
                <a:gridCol w="2729805"/>
                <a:gridCol w="3391830"/>
              </a:tblGrid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FFFFFF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المعيار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200025" marT="200025" marB="114300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GNS3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200025" marT="200025" marB="114300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Packet Tracer 8.2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200025" marT="200025" marB="114300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72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التقنية</a:t>
                      </a:r>
                      <a:endParaRPr lang="en-US" sz="872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8594" marR="200025" marT="200025" marB="1785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4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محاكاة بصور IOS حقيقية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8594" marR="200025" marT="200025" marB="1785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4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محاكاة على مستوى السلوك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8594" marR="200025" marT="200025" marB="1785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72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الترخيص</a:t>
                      </a:r>
                      <a:endParaRPr lang="en-US" sz="872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8594" marR="200025" marT="200025" marB="1785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4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يتطلب صور Cisco IOS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8594" marR="200025" marT="200025" marB="1785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4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مجاني عبر Networking Academy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8594" marR="200025" marT="200025" marB="1785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72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الاستهلاك</a:t>
                      </a:r>
                      <a:endParaRPr lang="en-US" sz="872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8594" marR="200025" marT="200025" marB="1785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4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ثقيل الذاكرة عند تعدد الموجّهات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8594" marR="200025" marT="200025" marB="1785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4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خفيف ومناسب للطلاب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8594" marR="200025" marT="200025" marB="1785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72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SNMP من عملية Python خارجية</a:t>
                      </a:r>
                      <a:endParaRPr lang="en-US" sz="872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8594" marR="200025" marT="200025" marB="1785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4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✓قابل للوصول بشكل أصيل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8594" marR="200025" marT="200025" marB="1785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4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⊗رزمة محاكاة غير قابلة للوصول من الخارج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8594" marR="200025" marT="200025" marB="1785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28625" y="4154091"/>
            <a:ext cx="8286750" cy="675084"/>
          </a:xfrm>
          <a:prstGeom prst="roundRect">
            <a:avLst>
              <a:gd name="adj" fmla="val 16931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28625" y="4157663"/>
            <a:ext cx="8286750" cy="0"/>
          </a:xfrm>
          <a:prstGeom prst="line">
            <a:avLst/>
          </a:prstGeom>
          <a:noFill/>
          <a:ln w="7144">
            <a:solidFill>
              <a:srgbClr val="05966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01088" y="4154091"/>
            <a:ext cx="0" cy="675084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8625" y="4825603"/>
            <a:ext cx="8286750" cy="0"/>
          </a:xfrm>
          <a:prstGeom prst="line">
            <a:avLst/>
          </a:prstGeom>
          <a:noFill/>
          <a:ln w="7144">
            <a:solidFill>
              <a:srgbClr val="05966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2197" y="4154091"/>
            <a:ext cx="0" cy="675084"/>
          </a:xfrm>
          <a:prstGeom prst="line">
            <a:avLst/>
          </a:prstGeom>
          <a:noFill/>
          <a:ln w="7144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29613" y="433268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828" dirty="0"/>
          </a:p>
        </p:txBody>
      </p:sp>
      <p:sp>
        <p:nvSpPr>
          <p:cNvPr id="11" name="Text 8"/>
          <p:cNvSpPr/>
          <p:nvPr/>
        </p:nvSpPr>
        <p:spPr>
          <a:xfrm>
            <a:off x="607219" y="4304109"/>
            <a:ext cx="7608094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77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القرار:</a:t>
            </a:r>
            <a:pPr algn="r" indent="0" marL="0">
              <a:lnSpc>
                <a:spcPts val="1477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 Packet Tracer لمستوى تصميم الشبكة + وكلاء SNMP مطابقون للبروتوكول كمستوى بيانات حيّ — نفس </a:t>
            </a:r>
            <a:pPr algn="r" indent="0" marL="0">
              <a:lnSpc>
                <a:spcPts val="1477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OIDs</a:t>
            </a:r>
            <a:pPr algn="r" indent="0" marL="0">
              <a:lnSpc>
                <a:spcPts val="1477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 الخاصة بـCisco ونفس </a:t>
            </a:r>
            <a:pPr algn="r" indent="0" marL="0">
              <a:lnSpc>
                <a:spcPts val="1477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community</a:t>
            </a:r>
            <a:pPr algn="r" indent="0" marL="0">
              <a:lnSpc>
                <a:spcPts val="1477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 ونفس مضيف الـTraps. كود المراقبة جاهز للإنتاج: الانتقال إلى موجّهات حقيقية يعني تعديل العناوين في ملف </a:t>
            </a:r>
            <a:pPr algn="r" indent="0" marL="0">
              <a:lnSpc>
                <a:spcPts val="1477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YAML</a:t>
            </a:r>
            <a:pPr algn="r" indent="0" marL="0">
              <a:lnSpc>
                <a:spcPts val="1477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 واحد لا غير.</a:t>
            </a:r>
            <a:endParaRPr lang="en-US" sz="84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42900"/>
            <a:ext cx="8636000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891B2"/>
                </a:solidFill>
                <a:latin typeface="Tahoma"/>
                <a:ea typeface="Carlito" pitchFamily="34" charset="-122"/>
                <a:cs typeface="Tahoma"/>
              </a:rPr>
              <a:t>الشبكة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82203"/>
            <a:ext cx="8636000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ملف واحد، اثنا عشر جهازاً، تكرار كامل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989784" y="760028"/>
            <a:ext cx="4750594" cy="4037000"/>
          </a:xfrm>
          <a:prstGeom prst="roundRect">
            <a:avLst>
              <a:gd name="adj" fmla="val 330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home/z/my-project/download/network-monitoring-graduation-project/documentation/figures/fig_top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9081" y="1028254"/>
            <a:ext cx="4572000" cy="3286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4534" y="4385816"/>
            <a:ext cx="3986547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Smart_Network_Monitoring_Lab.pkt</a:t>
            </a:r>
            <a:pPr algn="r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— يفتح مباشرة في Packet Tracer 8.2 دون أي إعداد يدوي.</a:t>
            </a:r>
            <a:endParaRPr lang="en-US" sz="703" dirty="0"/>
          </a:p>
        </p:txBody>
      </p:sp>
      <p:sp>
        <p:nvSpPr>
          <p:cNvPr id="7" name="Text 4"/>
          <p:cNvSpPr/>
          <p:nvPr/>
        </p:nvSpPr>
        <p:spPr>
          <a:xfrm>
            <a:off x="403622" y="760028"/>
            <a:ext cx="3407569" cy="1274266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364706" y="1247142"/>
            <a:ext cx="300038" cy="300038"/>
          </a:xfrm>
          <a:prstGeom prst="roundRect">
            <a:avLst>
              <a:gd name="adj" fmla="val 34921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395603" y="1278039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17" dirty="0"/>
          </a:p>
        </p:txBody>
      </p:sp>
      <p:sp>
        <p:nvSpPr>
          <p:cNvPr id="10" name="Text 7"/>
          <p:cNvSpPr/>
          <p:nvPr/>
        </p:nvSpPr>
        <p:spPr>
          <a:xfrm>
            <a:off x="550069" y="1126368"/>
            <a:ext cx="2707481" cy="184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46"/>
              </a:lnSpc>
              <a:buNone/>
            </a:pPr>
            <a:r>
              <a:rPr lang="en-US" sz="928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مثلث OSPF في المنطقة 0 بين </a:t>
            </a:r>
            <a:pPr algn="r" indent="0" marL="0">
              <a:lnSpc>
                <a:spcPts val="1346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R1–R2–R3</a:t>
            </a:r>
            <a:endParaRPr lang="en-US" sz="928" dirty="0"/>
          </a:p>
        </p:txBody>
      </p:sp>
      <p:sp>
        <p:nvSpPr>
          <p:cNvPr id="11" name="Text 8"/>
          <p:cNvSpPr/>
          <p:nvPr/>
        </p:nvSpPr>
        <p:spPr>
          <a:xfrm>
            <a:off x="550069" y="1340123"/>
            <a:ext cx="2707481" cy="37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لا يعزل قطعُ وصلةٍ واحدة أيَّ موقع؛ </a:t>
            </a:r>
            <a:pPr algn="r" indent="0" marL="0">
              <a:lnSpc>
                <a:spcPts val="1291"/>
              </a:lnSpc>
              <a:buNone/>
            </a:pPr>
            <a:r>
              <a:rPr lang="en-US" sz="800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يبقى مساران قائمان مهما انقطع</a:t>
            </a:r>
            <a:pPr algn="r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03622" y="2141451"/>
            <a:ext cx="3407569" cy="1274266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364706" y="2628565"/>
            <a:ext cx="300038" cy="300038"/>
          </a:xfrm>
          <a:prstGeom prst="roundRect">
            <a:avLst>
              <a:gd name="adj" fmla="val 34921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395603" y="2659462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617" dirty="0"/>
          </a:p>
        </p:txBody>
      </p:sp>
      <p:sp>
        <p:nvSpPr>
          <p:cNvPr id="15" name="Text 12"/>
          <p:cNvSpPr/>
          <p:nvPr/>
        </p:nvSpPr>
        <p:spPr>
          <a:xfrm>
            <a:off x="550069" y="2507791"/>
            <a:ext cx="2707481" cy="184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46"/>
              </a:lnSpc>
              <a:buNone/>
            </a:pPr>
            <a:r>
              <a:rPr lang="en-US" sz="928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أسلوب </a:t>
            </a:r>
            <a:pPr algn="r" indent="0" marL="0">
              <a:lnSpc>
                <a:spcPts val="1346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Router-on-a-stick</a:t>
            </a:r>
            <a:pPr algn="r" indent="0" marL="0">
              <a:lnSpc>
                <a:spcPts val="1346"/>
              </a:lnSpc>
              <a:buNone/>
            </a:pPr>
            <a:r>
              <a:rPr lang="en-US" sz="928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 على </a:t>
            </a:r>
            <a:pPr algn="r" indent="0" marL="0">
              <a:lnSpc>
                <a:spcPts val="1346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R3-HQ</a:t>
            </a:r>
            <a:endParaRPr lang="en-US" sz="928" dirty="0"/>
          </a:p>
        </p:txBody>
      </p:sp>
      <p:sp>
        <p:nvSpPr>
          <p:cNvPr id="16" name="Text 13"/>
          <p:cNvSpPr/>
          <p:nvPr/>
        </p:nvSpPr>
        <p:spPr>
          <a:xfrm>
            <a:off x="550069" y="2721546"/>
            <a:ext cx="2707481" cy="37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فصل </a:t>
            </a:r>
            <a:pPr algn="r" indent="0" marL="0">
              <a:lnSpc>
                <a:spcPts val="1291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VLAN 10</a:t>
            </a:r>
            <a:pPr algn="r" indent="0" marL="0">
              <a:lnSpc>
                <a:spcPts val="1291"/>
              </a:lnSpc>
              <a:buNone/>
            </a:pPr>
            <a:r>
              <a:rPr lang="en-US" sz="800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 للمستخدمين</a:t>
            </a:r>
            <a:pPr algn="r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و</a:t>
            </a:r>
            <a:pPr algn="r" indent="0" marL="0">
              <a:lnSpc>
                <a:spcPts val="1291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VLAN 20</a:t>
            </a:r>
            <a:pPr algn="r" indent="0" marL="0">
              <a:lnSpc>
                <a:spcPts val="1291"/>
              </a:lnSpc>
              <a:buNone/>
            </a:pPr>
            <a:r>
              <a:rPr lang="en-US" sz="800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 للإدارة</a:t>
            </a:r>
            <a:pPr algn="r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عبر جذع فيزيائي واحد.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03622" y="3522873"/>
            <a:ext cx="3407569" cy="1274266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364706" y="4009988"/>
            <a:ext cx="300038" cy="300038"/>
          </a:xfrm>
          <a:prstGeom prst="roundRect">
            <a:avLst>
              <a:gd name="adj" fmla="val 34921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395603" y="4040885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17" dirty="0"/>
          </a:p>
        </p:txBody>
      </p:sp>
      <p:sp>
        <p:nvSpPr>
          <p:cNvPr id="20" name="Text 17"/>
          <p:cNvSpPr/>
          <p:nvPr/>
        </p:nvSpPr>
        <p:spPr>
          <a:xfrm>
            <a:off x="550069" y="3889214"/>
            <a:ext cx="2707481" cy="18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6"/>
              </a:lnSpc>
              <a:buNone/>
            </a:pPr>
            <a:r>
              <a:rPr lang="en-US" sz="928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مستوى الخدمات</a:t>
            </a:r>
            <a:endParaRPr lang="en-US" sz="928" dirty="0"/>
          </a:p>
        </p:txBody>
      </p:sp>
      <p:sp>
        <p:nvSpPr>
          <p:cNvPr id="21" name="Text 18"/>
          <p:cNvSpPr/>
          <p:nvPr/>
        </p:nvSpPr>
        <p:spPr>
          <a:xfrm>
            <a:off x="550069" y="4102968"/>
            <a:ext cx="2707481" cy="37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1"/>
              </a:lnSpc>
              <a:buNone/>
            </a:pPr>
            <a:r>
              <a:rPr lang="en-US" sz="800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SVR-MGMT</a:t>
            </a:r>
            <a:pPr algn="r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: syslog + NTP على </a:t>
            </a:r>
            <a:pPr algn="r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192.168.20.50</a:t>
            </a:r>
            <a:pPr algn="r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؛ </a:t>
            </a:r>
            <a:pPr algn="r" indent="0" marL="0">
              <a:lnSpc>
                <a:spcPts val="1291"/>
              </a:lnSpc>
              <a:buNone/>
            </a:pPr>
            <a:r>
              <a:rPr lang="en-US" sz="800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NMS-PC</a:t>
            </a:r>
            <a:pPr algn="r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: وجهة الـTraps والمستقصي على </a:t>
            </a:r>
            <a:pPr algn="r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192.168.20.100</a:t>
            </a:r>
            <a:pPr algn="r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71475"/>
            <a:ext cx="8636000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891B2"/>
                </a:solidFill>
                <a:latin typeface="Tahoma"/>
                <a:ea typeface="Carlito" pitchFamily="34" charset="-122"/>
                <a:cs typeface="Tahoma"/>
              </a:rPr>
              <a:t>الشبكة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510778"/>
            <a:ext cx="8636000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خطة عنونة هرمية موثَّقة وقابلة للاختبار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8625" y="827894"/>
          <a:ext cx="8286750" cy="914400"/>
        </p:xfrm>
        <a:graphic>
          <a:graphicData uri="http://schemas.openxmlformats.org/drawingml/2006/table">
            <a:tbl>
              <a:tblPr/>
              <a:tblGrid>
                <a:gridCol w="1654448"/>
                <a:gridCol w="578979"/>
                <a:gridCol w="1571737"/>
                <a:gridCol w="1613036"/>
                <a:gridCol w="2854263"/>
              </a:tblGrid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المقطع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42875" marT="142875" marB="10001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VLAN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42875" marT="142875" marB="10001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الشبكة الفرعية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42875" marT="142875" marB="10001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البوابة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42875" marT="142875" marB="10001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الأعضاء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42875" marT="142875" marB="10001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WAN بين R1 وR4-ISP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—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203.0.113.0/30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—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R1 .1 وR4 .2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النواة R1↔R2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—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10.0.12.0/30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—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R1 .1 وR2 .2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النواة R1↔R3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—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10.0.13.0/30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—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R1 .1 وR3 .2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النواة R2↔R3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—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10.0.23.0/30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—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R2 .1 وR3 .2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LAN الفرع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192.168.30.0/24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R2 .1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PC1 .10 وPC2 .11 وSW-Branch .5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مستخدمو المركز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10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192.168.10.0/24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R3 Gi0/0.10 .1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User1 .10 وUser2 .11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إدارة المركز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F2A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192.168.20.0/24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R3 Gi0/0.20 .1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SVR-MGMT .50 وNMS-PC .100 وSW-HQ .5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42875" marT="142875" marB="85725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5"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عناوين Loopback (معرّفات OSPF):R1 1.1.1.1·R2 2.2.2.2·R3 3.3.3.3·R4 8.8.8.8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42875" marT="142875" marB="10001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752393" y="4575572"/>
            <a:ext cx="2962982" cy="253603"/>
          </a:xfrm>
          <a:prstGeom prst="roundRect">
            <a:avLst>
              <a:gd name="adj" fmla="val 30047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486775" y="464522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5866693" y="4632722"/>
            <a:ext cx="257007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/30</a:t>
            </a:r>
            <a:pPr algn="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55E75"/>
                </a:solidFill>
                <a:latin typeface="Tahoma"/>
                <a:ea typeface="Carlito" pitchFamily="34" charset="-122"/>
                <a:cs typeface="Tahoma"/>
              </a:rPr>
              <a:t> على الوصلات نقطة-إلى-نقطة — كفاءة عنونة </a:t>
            </a:r>
            <a:pPr algn="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50%</a:t>
            </a:r>
            <a:pPr algn="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55E75"/>
                </a:solidFill>
                <a:latin typeface="Tahoma"/>
                <a:ea typeface="Carlito" pitchFamily="34" charset="-122"/>
                <a:cs typeface="Tahoma"/>
              </a:rPr>
              <a:t> لكل وصلة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2338908" y="4575572"/>
            <a:ext cx="3313472" cy="253603"/>
          </a:xfrm>
          <a:prstGeom prst="roundRect">
            <a:avLst>
              <a:gd name="adj" fmla="val 30047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423781" y="464522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2453208" y="4632722"/>
            <a:ext cx="292056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55E75"/>
                </a:solidFill>
                <a:latin typeface="Tahoma"/>
                <a:ea typeface="Carlito" pitchFamily="34" charset="-122"/>
                <a:cs typeface="Tahoma"/>
              </a:rPr>
              <a:t>Loopbacks تمنح OSPF معرّفات موجّهات ثابتة مستقلة عن الواجهات المادية</a:t>
            </a:r>
            <a:endParaRPr lang="en-US" sz="73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77054" y="371475"/>
            <a:ext cx="5935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891B2"/>
                </a:solidFill>
                <a:latin typeface="Tahoma"/>
                <a:ea typeface="Carlito" pitchFamily="34" charset="-122"/>
                <a:cs typeface="Tahoma"/>
              </a:rPr>
              <a:t>التنفيذ </a:t>
            </a:r>
            <a:pPr algn="r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1/3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8143094" y="416123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57369" y="416123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71644" y="416123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510778"/>
            <a:ext cx="8636000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خمسة أسطر تحوّل الموجّه إلى مصدر بيانات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14788" y="799319"/>
            <a:ext cx="4714875" cy="4001281"/>
          </a:xfrm>
          <a:prstGeom prst="roundRect">
            <a:avLst>
              <a:gd name="adj" fmla="val 2857"/>
            </a:avLst>
          </a:prstGeom>
          <a:solidFill>
            <a:srgbClr val="0F2A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14788" y="799319"/>
            <a:ext cx="4714875" cy="328613"/>
          </a:xfrm>
          <a:prstGeom prst="rect">
            <a:avLst/>
          </a:prstGeom>
          <a:solidFill>
            <a:srgbClr val="F8FAFC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14788" y="1124359"/>
            <a:ext cx="4714875" cy="0"/>
          </a:xfrm>
          <a:prstGeom prst="line">
            <a:avLst/>
          </a:prstGeom>
          <a:noFill/>
          <a:ln w="7144">
            <a:solidFill>
              <a:srgbClr val="E2F2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57663" y="920762"/>
            <a:ext cx="78581" cy="78581"/>
          </a:xfrm>
          <a:prstGeom prst="roundRect">
            <a:avLst>
              <a:gd name="adj" fmla="val 12109129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93394" y="920762"/>
            <a:ext cx="78581" cy="78581"/>
          </a:xfrm>
          <a:prstGeom prst="roundRect">
            <a:avLst>
              <a:gd name="adj" fmla="val 12109129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29125" y="920762"/>
            <a:ext cx="78581" cy="78581"/>
          </a:xfrm>
          <a:prstGeom prst="roundRect">
            <a:avLst>
              <a:gd name="adj" fmla="val 12109129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36294" y="895759"/>
            <a:ext cx="39504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34" kern="0" dirty="0">
                <a:solidFill>
                  <a:srgbClr val="E2F2F8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Cisco IOS · global configuration mode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06227" y="1640272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>
                    <a:alpha val="6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50556" y="1611697"/>
            <a:ext cx="4093369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0F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snmp-server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2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community 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FEF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MonNet-RO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2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</a:t>
            </a:r>
            <a:endParaRPr lang="en-US" sz="928" dirty="0"/>
          </a:p>
        </p:txBody>
      </p:sp>
      <p:sp>
        <p:nvSpPr>
          <p:cNvPr id="16" name="Text 14"/>
          <p:cNvSpPr/>
          <p:nvPr/>
        </p:nvSpPr>
        <p:spPr>
          <a:xfrm>
            <a:off x="4106227" y="2265127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>
                    <a:alpha val="6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50556" y="2236552"/>
            <a:ext cx="4093369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0F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snmp-server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2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location CORE-POP Damascus</a:t>
            </a:r>
            <a:endParaRPr lang="en-US" sz="928" dirty="0"/>
          </a:p>
        </p:txBody>
      </p:sp>
      <p:sp>
        <p:nvSpPr>
          <p:cNvPr id="18" name="Text 16"/>
          <p:cNvSpPr/>
          <p:nvPr/>
        </p:nvSpPr>
        <p:spPr>
          <a:xfrm>
            <a:off x="4106227" y="2889982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>
                    <a:alpha val="6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50556" y="2861407"/>
            <a:ext cx="4093369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0F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snmp-server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2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contact netmon@monnet.lab</a:t>
            </a:r>
            <a:endParaRPr lang="en-US" sz="928" dirty="0"/>
          </a:p>
        </p:txBody>
      </p:sp>
      <p:sp>
        <p:nvSpPr>
          <p:cNvPr id="20" name="Text 18"/>
          <p:cNvSpPr/>
          <p:nvPr/>
        </p:nvSpPr>
        <p:spPr>
          <a:xfrm>
            <a:off x="4106227" y="3514837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>
                    <a:alpha val="6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50556" y="3486262"/>
            <a:ext cx="4093369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0F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snmp-server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2F2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host 192.168.20.100 version 2c 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FEF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MonNet-RO</a:t>
            </a:r>
            <a:endParaRPr lang="en-US" sz="928" dirty="0"/>
          </a:p>
        </p:txBody>
      </p:sp>
      <p:sp>
        <p:nvSpPr>
          <p:cNvPr id="22" name="Text 20"/>
          <p:cNvSpPr/>
          <p:nvPr/>
        </p:nvSpPr>
        <p:spPr>
          <a:xfrm>
            <a:off x="4106227" y="4139692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>
                    <a:alpha val="6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50556" y="4111117"/>
            <a:ext cx="4093369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0F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snmp-server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2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enable traps snmp link linkdown linkup config</a:t>
            </a:r>
            <a:endParaRPr lang="en-US" sz="928" dirty="0"/>
          </a:p>
        </p:txBody>
      </p:sp>
      <p:sp>
        <p:nvSpPr>
          <p:cNvPr id="24" name="Shape 22"/>
          <p:cNvSpPr/>
          <p:nvPr/>
        </p:nvSpPr>
        <p:spPr>
          <a:xfrm>
            <a:off x="414338" y="1465697"/>
            <a:ext cx="34147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6163" y="899331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86163" y="899331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8625" y="885044"/>
            <a:ext cx="3057525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community MonNet-RO RO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8625" y="1058280"/>
            <a:ext cx="3057525" cy="3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وصول للقراءة فقط؛ community بصلاحية </a:t>
            </a:r>
            <a:pPr algn="r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</a:t>
            </a:r>
            <a:pPr algn="r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يفتح رسائل </a:t>
            </a:r>
            <a:pPr algn="r" indent="0" marL="0">
              <a:lnSpc>
                <a:spcPts val="1253"/>
              </a:lnSpc>
              <a:buNone/>
            </a:pPr>
            <a:r>
              <a:rPr lang="en-US" sz="800" b="1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</a:t>
            </a:r>
            <a:pPr algn="r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أي تعديل الإعداد — تجنّبناه عمداً.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4338" y="2298502"/>
            <a:ext cx="34147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6163" y="1891196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586163" y="189119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8625" y="1876909"/>
            <a:ext cx="3057525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/ contact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8349" y="2050145"/>
            <a:ext cx="2947801" cy="1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يظهران كـ </a:t>
            </a:r>
            <a:pPr algn="r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sysLocation</a:t>
            </a:r>
            <a:pPr algn="r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و</a:t>
            </a:r>
            <a:pPr algn="r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sysContact</a:t>
            </a:r>
            <a:pPr algn="r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ضمن OID ما يثبت هوية الوكيل.</a:t>
            </a:r>
            <a:endParaRPr lang="en-US" sz="759" dirty="0"/>
          </a:p>
        </p:txBody>
      </p:sp>
      <p:sp>
        <p:nvSpPr>
          <p:cNvPr id="34" name="Shape 32"/>
          <p:cNvSpPr/>
          <p:nvPr/>
        </p:nvSpPr>
        <p:spPr>
          <a:xfrm>
            <a:off x="414338" y="3131307"/>
            <a:ext cx="34147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86163" y="2724001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586163" y="2724001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257648" y="2709714"/>
            <a:ext cx="2228502" cy="145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host 192.168.20.100 version 2c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257648" y="2882950"/>
            <a:ext cx="2228502" cy="1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تستقبل NMS رسائل الـTraps بنفس الـcommunity.</a:t>
            </a:r>
            <a:endParaRPr lang="en-US" sz="759" dirty="0"/>
          </a:p>
        </p:txBody>
      </p:sp>
      <p:sp>
        <p:nvSpPr>
          <p:cNvPr id="39" name="Shape 37"/>
          <p:cNvSpPr/>
          <p:nvPr/>
        </p:nvSpPr>
        <p:spPr>
          <a:xfrm>
            <a:off x="414338" y="3964112"/>
            <a:ext cx="34147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86163" y="3556806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586163" y="355680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L4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614549" y="3542519"/>
            <a:ext cx="1871601" cy="1458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 traps snmp link…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561075" y="3715755"/>
            <a:ext cx="1925075" cy="1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أحداث حالة الوصلات والإعداد تولّد إشعارات.</a:t>
            </a:r>
            <a:endParaRPr lang="en-US" sz="759" dirty="0"/>
          </a:p>
        </p:txBody>
      </p:sp>
      <p:sp>
        <p:nvSpPr>
          <p:cNvPr id="44" name="Text 42"/>
          <p:cNvSpPr/>
          <p:nvPr/>
        </p:nvSpPr>
        <p:spPr>
          <a:xfrm>
            <a:off x="3586163" y="4389611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612416" y="4415864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46" name="Text 44"/>
          <p:cNvSpPr/>
          <p:nvPr/>
        </p:nvSpPr>
        <p:spPr>
          <a:xfrm>
            <a:off x="1869443" y="4375324"/>
            <a:ext cx="1616707" cy="152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طُبّقت على </a:t>
            </a:r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 موجّهات + </a:t>
            </a:r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 مبدّلات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869443" y="4555703"/>
            <a:ext cx="16167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تظهر في IOS عبر الأمر </a:t>
            </a:r>
            <a:pPr algn="r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snmp</a:t>
            </a:r>
            <a:pPr algn="r" indent="0" marL="0">
              <a:lnSpc>
                <a:spcPts val="1253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75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91342" y="342900"/>
            <a:ext cx="5935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891B2"/>
                </a:solidFill>
                <a:latin typeface="Tahoma"/>
                <a:ea typeface="Carlito" pitchFamily="34" charset="-122"/>
                <a:cs typeface="Tahoma"/>
              </a:rPr>
              <a:t>التنفيذ </a:t>
            </a:r>
            <a:pPr algn="r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2/3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8157381" y="387548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71656" y="387548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85931" y="387548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482203"/>
            <a:ext cx="8636000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ثلاثة مستويات، قاعدة كود Python واحدة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03984" y="760028"/>
            <a:ext cx="5436394" cy="3865550"/>
          </a:xfrm>
          <a:prstGeom prst="roundRect">
            <a:avLst>
              <a:gd name="adj" fmla="val 345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home/z/my-project/download/network-monitoring-graduation-project/documentation/figures/fig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3281" y="1049685"/>
            <a:ext cx="5257800" cy="3286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03622" y="760028"/>
            <a:ext cx="2721769" cy="1212317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930621" y="1038557"/>
            <a:ext cx="1085470" cy="255989"/>
          </a:xfrm>
          <a:prstGeom prst="roundRect">
            <a:avLst>
              <a:gd name="adj" fmla="val 29767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786063" y="1105830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95" dirty="0"/>
          </a:p>
        </p:txBody>
      </p:sp>
      <p:sp>
        <p:nvSpPr>
          <p:cNvPr id="12" name="Text 9"/>
          <p:cNvSpPr/>
          <p:nvPr/>
        </p:nvSpPr>
        <p:spPr>
          <a:xfrm>
            <a:off x="2004193" y="1094222"/>
            <a:ext cx="76687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snmp_lite.py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35781" y="1353183"/>
            <a:ext cx="2457450" cy="37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تنفيذ </a:t>
            </a:r>
            <a:pPr algn="r" indent="0" marL="0">
              <a:lnSpc>
                <a:spcPts val="1291"/>
              </a:lnSpc>
              <a:buNone/>
            </a:pPr>
            <a:r>
              <a:rPr lang="en-US" sz="800" b="1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SNMPv2c</a:t>
            </a:r>
            <a:pPr algn="r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من نص RFC مباشرة: مرمّز BER وGET وGETNEXT ورسائل Trap — </a:t>
            </a:r>
            <a:pPr algn="r" indent="0" marL="0">
              <a:lnSpc>
                <a:spcPts val="1291"/>
              </a:lnSpc>
              <a:buNone/>
            </a:pPr>
            <a:r>
              <a:rPr lang="en-US" sz="800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بالمكتبة القياسية فقط</a:t>
            </a:r>
            <a:pPr algn="r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03622" y="2086645"/>
            <a:ext cx="2721769" cy="1212317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930621" y="2365174"/>
            <a:ext cx="1085470" cy="255989"/>
          </a:xfrm>
          <a:prstGeom prst="roundRect">
            <a:avLst>
              <a:gd name="adj" fmla="val 29767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786063" y="2432447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195" dirty="0"/>
          </a:p>
        </p:txBody>
      </p:sp>
      <p:sp>
        <p:nvSpPr>
          <p:cNvPr id="17" name="Text 14"/>
          <p:cNvSpPr/>
          <p:nvPr/>
        </p:nvSpPr>
        <p:spPr>
          <a:xfrm>
            <a:off x="2004193" y="2420838"/>
            <a:ext cx="76687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agent_sim.py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35781" y="2679799"/>
            <a:ext cx="2457450" cy="37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ستة وكلاء متوافقون مع Cisco: قيم CPU وذاكرة وifTable حيّة مع بثّ Traps و</a:t>
            </a:r>
            <a:pPr algn="r" indent="0" marL="0">
              <a:lnSpc>
                <a:spcPts val="1291"/>
              </a:lnSpc>
              <a:buNone/>
            </a:pPr>
            <a:r>
              <a:rPr lang="en-US" sz="800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سيناريوهات حوادث مبرمجة</a:t>
            </a:r>
            <a:pPr algn="r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03622" y="3413261"/>
            <a:ext cx="2721769" cy="1212317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46818" y="3691791"/>
            <a:ext cx="969273" cy="255989"/>
          </a:xfrm>
          <a:prstGeom prst="roundRect">
            <a:avLst>
              <a:gd name="adj" fmla="val 29767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786063" y="3759064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95" dirty="0"/>
          </a:p>
        </p:txBody>
      </p:sp>
      <p:sp>
        <p:nvSpPr>
          <p:cNvPr id="22" name="Text 19"/>
          <p:cNvSpPr/>
          <p:nvPr/>
        </p:nvSpPr>
        <p:spPr>
          <a:xfrm>
            <a:off x="2136956" y="3747455"/>
            <a:ext cx="61754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monitor.py</a:t>
            </a:r>
            <a:endParaRPr lang="en-US" sz="759" dirty="0"/>
          </a:p>
        </p:txBody>
      </p:sp>
      <p:sp>
        <p:nvSpPr>
          <p:cNvPr id="23" name="Text 20"/>
          <p:cNvSpPr/>
          <p:nvPr/>
        </p:nvSpPr>
        <p:spPr>
          <a:xfrm>
            <a:off x="535781" y="4006416"/>
            <a:ext cx="2457450" cy="37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المستقصي وآلة حالات العتبات ومستقبل الـTraps وموزّع التنبيهات مع </a:t>
            </a:r>
            <a:pPr algn="r" indent="0" marL="0">
              <a:lnSpc>
                <a:spcPts val="1291"/>
              </a:lnSpc>
              <a:buNone/>
            </a:pPr>
            <a:r>
              <a:rPr lang="en-US" sz="800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طابور Telegram</a:t>
            </a:r>
            <a:pPr algn="r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756983" y="4711303"/>
            <a:ext cx="328613" cy="7144"/>
          </a:xfrm>
          <a:prstGeom prst="rect">
            <a:avLst/>
          </a:prstGeom>
          <a:solidFill>
            <a:srgbClr val="94A3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501317" y="4629150"/>
            <a:ext cx="414136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نفّذنا البروتوكولَ نفسَه </a:t>
            </a:r>
            <a:pPr algn="ctr" indent="0" marL="0">
              <a:lnSpc>
                <a:spcPts val="1350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لا مجرد استدعاء مكتبة</a:t>
            </a:r>
            <a:pPr algn="ct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— كل بايت على السلك من صنعنا وقابل للشرح.</a:t>
            </a:r>
            <a:endParaRPr lang="en-US" sz="844" dirty="0"/>
          </a:p>
        </p:txBody>
      </p:sp>
      <p:sp>
        <p:nvSpPr>
          <p:cNvPr id="26" name="Text 23"/>
          <p:cNvSpPr/>
          <p:nvPr/>
        </p:nvSpPr>
        <p:spPr>
          <a:xfrm>
            <a:off x="2058405" y="4711303"/>
            <a:ext cx="328613" cy="7144"/>
          </a:xfrm>
          <a:prstGeom prst="rect">
            <a:avLst/>
          </a:prstGeom>
          <a:solidFill>
            <a:srgbClr val="94A3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77054" y="371475"/>
            <a:ext cx="5935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891B2"/>
                </a:solidFill>
                <a:latin typeface="Tahoma"/>
                <a:ea typeface="Carlito" pitchFamily="34" charset="-122"/>
                <a:cs typeface="Tahoma"/>
              </a:rPr>
              <a:t>التنفيذ </a:t>
            </a:r>
            <a:pPr algn="r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891B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3/3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8143094" y="416123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57369" y="416123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71644" y="416123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510778"/>
            <a:ext cx="8636000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التنبيه عند الانتقال لا عند القيمة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51006" y="2092226"/>
            <a:ext cx="678656" cy="443805"/>
          </a:xfrm>
          <a:prstGeom prst="roundRect">
            <a:avLst>
              <a:gd name="adj" fmla="val 34339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48086" y="2177951"/>
            <a:ext cx="291615" cy="1341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160"/>
              </a:lnSpc>
              <a:buNone/>
            </a:pPr>
            <a:r>
              <a:rPr lang="en-US" sz="928" b="1" dirty="0">
                <a:solidFill>
                  <a:srgbClr val="047857"/>
                </a:solidFill>
                <a:latin typeface="Tahoma"/>
                <a:ea typeface="Carlito" pitchFamily="34" charset="-122"/>
                <a:cs typeface="Tahoma"/>
              </a:rPr>
              <a:t>سليم</a:t>
            </a:r>
            <a:endParaRPr lang="en-US" sz="928" dirty="0"/>
          </a:p>
        </p:txBody>
      </p:sp>
      <p:sp>
        <p:nvSpPr>
          <p:cNvPr id="9" name="Text 7"/>
          <p:cNvSpPr/>
          <p:nvPr/>
        </p:nvSpPr>
        <p:spPr>
          <a:xfrm>
            <a:off x="8472488" y="217303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8266434" y="2339578"/>
            <a:ext cx="18422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45" kern="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81404" y="2290465"/>
            <a:ext cx="376275" cy="17859"/>
          </a:xfrm>
          <a:prstGeom prst="roundRect">
            <a:avLst>
              <a:gd name="adj" fmla="val 106669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17110" y="2092226"/>
            <a:ext cx="454856" cy="622042"/>
          </a:xfrm>
          <a:prstGeom prst="rect">
            <a:avLst/>
          </a:prstGeom>
          <a:noFill/>
          <a:ln/>
        </p:spPr>
        <p:txBody>
          <a:bodyPr wrap="square" lIns="14288" tIns="0" rIns="14288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CPU ≥ 70%</a:t>
            </a:r>
            <a:endParaRPr lang="en-US" sz="9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ذاكرة </a:t>
            </a:r>
            <a:pPr algn="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 75%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37982" y="2092226"/>
            <a:ext cx="700088" cy="443805"/>
          </a:xfrm>
          <a:prstGeom prst="roundRect">
            <a:avLst>
              <a:gd name="adj" fmla="val 3433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14483" y="2177951"/>
            <a:ext cx="354205" cy="1341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160"/>
              </a:lnSpc>
              <a:buNone/>
            </a:pPr>
            <a:r>
              <a:rPr lang="en-US" sz="928" b="1" dirty="0">
                <a:solidFill>
                  <a:srgbClr val="B45309"/>
                </a:solidFill>
                <a:latin typeface="Tahoma"/>
                <a:ea typeface="Carlito" pitchFamily="34" charset="-122"/>
                <a:cs typeface="Tahoma"/>
              </a:rPr>
              <a:t>تحذير</a:t>
            </a:r>
            <a:endParaRPr lang="en-US" sz="928" dirty="0"/>
          </a:p>
        </p:txBody>
      </p:sp>
      <p:sp>
        <p:nvSpPr>
          <p:cNvPr id="15" name="Text 13"/>
          <p:cNvSpPr/>
          <p:nvPr/>
        </p:nvSpPr>
        <p:spPr>
          <a:xfrm>
            <a:off x="6980895" y="217303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B4530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16" name="Text 14"/>
          <p:cNvSpPr/>
          <p:nvPr/>
        </p:nvSpPr>
        <p:spPr>
          <a:xfrm>
            <a:off x="6648000" y="2339578"/>
            <a:ext cx="4299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619" spc="45" kern="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5968380" y="2290465"/>
            <a:ext cx="376275" cy="17859"/>
          </a:xfrm>
          <a:prstGeom prst="roundRect">
            <a:avLst>
              <a:gd name="adj" fmla="val 106669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04086" y="2092226"/>
            <a:ext cx="454856" cy="622042"/>
          </a:xfrm>
          <a:prstGeom prst="rect">
            <a:avLst/>
          </a:prstGeom>
          <a:noFill/>
          <a:ln/>
        </p:spPr>
        <p:txBody>
          <a:bodyPr wrap="square" lIns="14288" tIns="0" rIns="14288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CPU ≥ 85%</a:t>
            </a:r>
            <a:endParaRPr lang="en-US" sz="9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ذاكرة </a:t>
            </a:r>
            <a:pPr algn="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 90%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2174" y="2092226"/>
            <a:ext cx="652872" cy="443805"/>
          </a:xfrm>
          <a:prstGeom prst="roundRect">
            <a:avLst>
              <a:gd name="adj" fmla="val 34339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86474" y="2177951"/>
            <a:ext cx="226479" cy="1341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160"/>
              </a:lnSpc>
              <a:buNone/>
            </a:pPr>
            <a:r>
              <a:rPr lang="en-US" sz="928" b="1" dirty="0">
                <a:solidFill>
                  <a:srgbClr val="B91C1C"/>
                </a:solidFill>
                <a:latin typeface="Tahoma"/>
                <a:ea typeface="Carlito" pitchFamily="34" charset="-122"/>
                <a:cs typeface="Tahoma"/>
              </a:rPr>
              <a:t>حرج</a:t>
            </a:r>
            <a:endParaRPr lang="en-US" sz="928" dirty="0"/>
          </a:p>
        </p:txBody>
      </p:sp>
      <p:sp>
        <p:nvSpPr>
          <p:cNvPr id="21" name="Text 19"/>
          <p:cNvSpPr/>
          <p:nvPr/>
        </p:nvSpPr>
        <p:spPr>
          <a:xfrm>
            <a:off x="5462960" y="217303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B91C1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406" dirty="0"/>
          </a:p>
        </p:txBody>
      </p:sp>
      <p:sp>
        <p:nvSpPr>
          <p:cNvPr id="22" name="Text 20"/>
          <p:cNvSpPr/>
          <p:nvPr/>
        </p:nvSpPr>
        <p:spPr>
          <a:xfrm>
            <a:off x="5154898" y="2339578"/>
            <a:ext cx="48742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619" spc="45" kern="0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619" dirty="0"/>
          </a:p>
        </p:txBody>
      </p:sp>
      <p:sp>
        <p:nvSpPr>
          <p:cNvPr id="23" name="Shape 21"/>
          <p:cNvSpPr/>
          <p:nvPr/>
        </p:nvSpPr>
        <p:spPr>
          <a:xfrm>
            <a:off x="8408194" y="2811066"/>
            <a:ext cx="0" cy="271463"/>
          </a:xfrm>
          <a:prstGeom prst="line">
            <a:avLst/>
          </a:prstGeom>
          <a:noFill/>
          <a:ln w="14288">
            <a:solidFill>
              <a:srgbClr val="059669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629275" y="3075384"/>
            <a:ext cx="2786063" cy="0"/>
          </a:xfrm>
          <a:prstGeom prst="line">
            <a:avLst/>
          </a:prstGeom>
          <a:noFill/>
          <a:ln w="14288">
            <a:solidFill>
              <a:srgbClr val="059669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636419" y="2811066"/>
            <a:ext cx="0" cy="271463"/>
          </a:xfrm>
          <a:prstGeom prst="line">
            <a:avLst/>
          </a:prstGeom>
          <a:noFill/>
          <a:ln w="14288">
            <a:solidFill>
              <a:srgbClr val="059669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666536" y="2978765"/>
            <a:ext cx="711540" cy="170021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664044" y="2987873"/>
            <a:ext cx="71652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047857"/>
                </a:solidFill>
                <a:latin typeface="Tahoma"/>
                <a:ea typeface="Carlito" pitchFamily="34" charset="-122"/>
                <a:cs typeface="Tahoma"/>
              </a:rPr>
              <a:t>إشعار التعافي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708231" y="3325416"/>
            <a:ext cx="21431" cy="182166"/>
          </a:xfrm>
          <a:prstGeom prst="roundRect">
            <a:avLst>
              <a:gd name="adj" fmla="val 8889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23148" y="3325416"/>
            <a:ext cx="2892214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حالة لكل (جهاز، مقياس) — تنطلق التنبيهات </a:t>
            </a:r>
            <a:pPr algn="r" indent="0" marL="0">
              <a:lnSpc>
                <a:spcPts val="1434"/>
              </a:lnSpc>
              <a:buNone/>
            </a:pPr>
            <a:r>
              <a:rPr lang="en-US" sz="844" b="1" dirty="0">
                <a:solidFill>
                  <a:srgbClr val="155E75"/>
                </a:solidFill>
                <a:latin typeface="Tahoma"/>
                <a:ea typeface="Carlito" pitchFamily="34" charset="-122"/>
                <a:cs typeface="Tahoma"/>
              </a:rPr>
              <a:t>فقط عند تغيّر الحالة</a:t>
            </a:r>
            <a:pPr algn="r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417909" y="802891"/>
            <a:ext cx="4450556" cy="918195"/>
          </a:xfrm>
          <a:prstGeom prst="roundRect">
            <a:avLst>
              <a:gd name="adj" fmla="val 1452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450556" y="1126257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450556" y="1126257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</a:t>
            </a:r>
            <a:endParaRPr lang="en-US" sz="844" dirty="0"/>
          </a:p>
        </p:txBody>
      </p:sp>
      <p:sp>
        <p:nvSpPr>
          <p:cNvPr id="33" name="Text 31"/>
          <p:cNvSpPr/>
          <p:nvPr/>
        </p:nvSpPr>
        <p:spPr>
          <a:xfrm>
            <a:off x="1396458" y="1079153"/>
            <a:ext cx="2939798" cy="173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99"/>
              </a:lnSpc>
              <a:buNone/>
            </a:pPr>
            <a:r>
              <a:rPr lang="en-US" sz="928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لا تكرار ما دامت الحالة قائمة</a:t>
            </a:r>
            <a:endParaRPr lang="en-US" sz="928" dirty="0"/>
          </a:p>
        </p:txBody>
      </p:sp>
      <p:sp>
        <p:nvSpPr>
          <p:cNvPr id="34" name="Text 32"/>
          <p:cNvSpPr/>
          <p:nvPr/>
        </p:nvSpPr>
        <p:spPr>
          <a:xfrm>
            <a:off x="1663712" y="1279847"/>
            <a:ext cx="2672544" cy="181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9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متحقق: تنبيه حرج </a:t>
            </a:r>
            <a:pPr algn="r" indent="0" marL="0">
              <a:lnSpc>
                <a:spcPts val="1299"/>
              </a:lnSpc>
              <a:buNone/>
            </a:pPr>
            <a:r>
              <a:rPr lang="en-US" sz="788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واحد بالضبط</a:t>
            </a:r>
            <a:pPr algn="r" indent="0" marL="0">
              <a:lnSpc>
                <a:spcPts val="1299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خلال حادث CPU مستمر </a:t>
            </a:r>
            <a:pPr algn="r" indent="0" marL="0">
              <a:lnSpc>
                <a:spcPts val="1299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52</a:t>
            </a:r>
            <a:pPr algn="r" indent="0" marL="0">
              <a:lnSpc>
                <a:spcPts val="1299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ثانية.</a:t>
            </a:r>
            <a:endParaRPr lang="en-US" sz="788" dirty="0"/>
          </a:p>
        </p:txBody>
      </p:sp>
      <p:sp>
        <p:nvSpPr>
          <p:cNvPr id="35" name="Text 33"/>
          <p:cNvSpPr/>
          <p:nvPr/>
        </p:nvSpPr>
        <p:spPr>
          <a:xfrm>
            <a:off x="417909" y="1828242"/>
            <a:ext cx="4450556" cy="918195"/>
          </a:xfrm>
          <a:prstGeom prst="roundRect">
            <a:avLst>
              <a:gd name="adj" fmla="val 1452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450556" y="2151608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450556" y="2151608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R2</a:t>
            </a:r>
            <a:endParaRPr lang="en-US" sz="844" dirty="0"/>
          </a:p>
        </p:txBody>
      </p:sp>
      <p:sp>
        <p:nvSpPr>
          <p:cNvPr id="38" name="Text 36"/>
          <p:cNvSpPr/>
          <p:nvPr/>
        </p:nvSpPr>
        <p:spPr>
          <a:xfrm>
            <a:off x="1403457" y="2104504"/>
            <a:ext cx="2932800" cy="173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99"/>
              </a:lnSpc>
              <a:buNone/>
            </a:pPr>
            <a:r>
              <a:rPr lang="en-US" sz="928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انقطاع الوصول تنبيهٌ مستقل</a:t>
            </a:r>
            <a:endParaRPr lang="en-US" sz="928" dirty="0"/>
          </a:p>
        </p:txBody>
      </p:sp>
      <p:sp>
        <p:nvSpPr>
          <p:cNvPr id="39" name="Text 37"/>
          <p:cNvSpPr/>
          <p:nvPr/>
        </p:nvSpPr>
        <p:spPr>
          <a:xfrm>
            <a:off x="1670075" y="2305199"/>
            <a:ext cx="2666181" cy="181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9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مهلة SNMP ترفع علم </a:t>
            </a:r>
            <a:pPr algn="r" indent="0" marL="0">
              <a:lnSpc>
                <a:spcPts val="1299"/>
              </a:lnSpc>
              <a:buNone/>
            </a:pPr>
            <a:r>
              <a:rPr lang="en-US" sz="788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</a:t>
            </a:r>
            <a:pPr algn="r" indent="0" marL="0">
              <a:lnSpc>
                <a:spcPts val="1299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للجهاز ويعود </a:t>
            </a:r>
            <a:pPr algn="r" indent="0" marL="0">
              <a:lnSpc>
                <a:spcPts val="1299"/>
              </a:lnSpc>
              <a:buNone/>
            </a:pPr>
            <a:r>
              <a:rPr lang="en-US" sz="788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</a:t>
            </a:r>
            <a:pPr algn="r" indent="0" marL="0">
              <a:lnSpc>
                <a:spcPts val="1299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عند استجابته مجدداً.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417909" y="2853593"/>
            <a:ext cx="4450556" cy="918195"/>
          </a:xfrm>
          <a:prstGeom prst="roundRect">
            <a:avLst>
              <a:gd name="adj" fmla="val 1452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450556" y="3176960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450556" y="3176960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R3</a:t>
            </a:r>
            <a:endParaRPr lang="en-US" sz="844" dirty="0"/>
          </a:p>
        </p:txBody>
      </p:sp>
      <p:sp>
        <p:nvSpPr>
          <p:cNvPr id="43" name="Text 41"/>
          <p:cNvSpPr/>
          <p:nvPr/>
        </p:nvSpPr>
        <p:spPr>
          <a:xfrm>
            <a:off x="2112284" y="3129855"/>
            <a:ext cx="2223972" cy="173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99"/>
              </a:lnSpc>
              <a:buNone/>
            </a:pPr>
            <a:r>
              <a:rPr lang="en-US" sz="928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إشعارات التعافي تُغلق الحلقة</a:t>
            </a:r>
            <a:endParaRPr lang="en-US" sz="928" dirty="0"/>
          </a:p>
        </p:txBody>
      </p:sp>
      <p:sp>
        <p:nvSpPr>
          <p:cNvPr id="44" name="Text 42"/>
          <p:cNvSpPr/>
          <p:nvPr/>
        </p:nvSpPr>
        <p:spPr>
          <a:xfrm>
            <a:off x="2152720" y="3330550"/>
            <a:ext cx="2183536" cy="181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يعرف المشغّل </a:t>
            </a:r>
            <a:pPr algn="r" indent="0" marL="0">
              <a:lnSpc>
                <a:spcPts val="1299"/>
              </a:lnSpc>
              <a:buNone/>
            </a:pPr>
            <a:r>
              <a:rPr lang="en-US" sz="800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متى انتهى الحادث</a:t>
            </a:r>
            <a:pPr algn="r" indent="0" marL="0">
              <a:lnSpc>
                <a:spcPts val="129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لا متى بدأ فقط.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17909" y="3878945"/>
            <a:ext cx="4450556" cy="918195"/>
          </a:xfrm>
          <a:prstGeom prst="roundRect">
            <a:avLst>
              <a:gd name="adj" fmla="val 1452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450556" y="4202311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450556" y="4202311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R4</a:t>
            </a:r>
            <a:endParaRPr lang="en-US" sz="844" dirty="0"/>
          </a:p>
        </p:txBody>
      </p:sp>
      <p:sp>
        <p:nvSpPr>
          <p:cNvPr id="48" name="Text 46"/>
          <p:cNvSpPr/>
          <p:nvPr/>
        </p:nvSpPr>
        <p:spPr>
          <a:xfrm>
            <a:off x="1688074" y="4155207"/>
            <a:ext cx="2648183" cy="173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299"/>
              </a:lnSpc>
              <a:buNone/>
            </a:pPr>
            <a:r>
              <a:rPr lang="en-US" sz="928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كل تنبيه قابل للتدقيق</a:t>
            </a:r>
            <a:endParaRPr lang="en-US" sz="928" dirty="0"/>
          </a:p>
        </p:txBody>
      </p:sp>
      <p:sp>
        <p:nvSpPr>
          <p:cNvPr id="49" name="Text 47"/>
          <p:cNvSpPr/>
          <p:nvPr/>
        </p:nvSpPr>
        <p:spPr>
          <a:xfrm>
            <a:off x="1814178" y="4355902"/>
            <a:ext cx="2522079" cy="181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9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يُلحق بملف </a:t>
            </a:r>
            <a:pPr algn="r" indent="0" marL="0">
              <a:lnSpc>
                <a:spcPts val="1299"/>
              </a:lnSpc>
              <a:buNone/>
            </a:pPr>
            <a:r>
              <a:rPr lang="en-US" sz="788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alerts.jsonl</a:t>
            </a:r>
            <a:pPr algn="r" indent="0" marL="0">
              <a:lnSpc>
                <a:spcPts val="1299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مع طابعَي زمن الحدث والكشف.</a:t>
            </a:r>
            <a:endParaRPr lang="en-US" sz="78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42900"/>
            <a:ext cx="863600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Tahoma"/>
                <a:ea typeface="Carlito" pitchFamily="34" charset="-122"/>
                <a:cs typeface="Tahoma"/>
              </a:rPr>
              <a:t>مستوى الإشعار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92919"/>
            <a:ext cx="8636000" cy="340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86"/>
              </a:lnSpc>
              <a:buNone/>
            </a:pPr>
            <a:r>
              <a:rPr lang="en-US" sz="1913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هاتف المشغّل هو شاشة NMS الجديدة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647009" y="940743"/>
            <a:ext cx="4093369" cy="2838301"/>
          </a:xfrm>
          <a:prstGeom prst="roundRect">
            <a:avLst>
              <a:gd name="adj" fmla="val 469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71906" y="1094333"/>
            <a:ext cx="1179137" cy="154305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r" indent="0" marL="0">
              <a:buNone/>
            </a:pPr>
            <a:r>
              <a:rPr lang="en-US" sz="1013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البوت في 5 دقائق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8386763" y="1549524"/>
            <a:ext cx="178594" cy="178594"/>
          </a:xfrm>
          <a:prstGeom prst="ellipse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86763" y="1549524"/>
            <a:ext cx="1785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2079" y="1535237"/>
            <a:ext cx="224610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حاور </a:t>
            </a:r>
            <a:pPr algn="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@BotFather</a:t>
            </a:r>
            <a:pPr algn="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 ثم </a:t>
            </a:r>
            <a:pPr algn="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/newbot</a:t>
            </a:r>
            <a:pPr algn="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 واستلم التوكن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8386763" y="1983284"/>
            <a:ext cx="178594" cy="178594"/>
          </a:xfrm>
          <a:prstGeom prst="ellipse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86763" y="1983284"/>
            <a:ext cx="1785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46934" y="1968996"/>
            <a:ext cx="176124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اضغط </a:t>
            </a:r>
            <a:pPr algn="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algn="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 على البوت (أي رسالة)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8386763" y="2417043"/>
            <a:ext cx="178594" cy="178594"/>
          </a:xfrm>
          <a:prstGeom prst="ellipse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86763" y="2417043"/>
            <a:ext cx="1785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90939" y="2402756"/>
            <a:ext cx="311724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اقرأ </a:t>
            </a:r>
            <a:pPr algn="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id</a:t>
            </a:r>
            <a:pPr algn="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 من </a:t>
            </a:r>
            <a:pPr algn="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api.telegram.org/bot&lt;TOKEN&gt;/getUpdates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8386763" y="2850803"/>
            <a:ext cx="178594" cy="178594"/>
          </a:xfrm>
          <a:prstGeom prst="ellipse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386763" y="2850803"/>
            <a:ext cx="1785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93432" y="2836515"/>
            <a:ext cx="281474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صدّر المتغيّرين </a:t>
            </a:r>
            <a:pPr algn="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TELEGRAM_BOT_TOKEN</a:t>
            </a:r>
            <a:pPr algn="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 و</a:t>
            </a:r>
            <a:pPr algn="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TELEGRAM_CHAT_ID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8386763" y="3284562"/>
            <a:ext cx="178594" cy="178594"/>
          </a:xfrm>
          <a:prstGeom prst="ellipse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386763" y="3284562"/>
            <a:ext cx="1785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019082" y="3270275"/>
            <a:ext cx="12891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شغّل </a:t>
            </a:r>
            <a:pPr algn="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python3 bot.py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403622" y="940743"/>
            <a:ext cx="4093369" cy="2838301"/>
          </a:xfrm>
          <a:prstGeom prst="roundRect">
            <a:avLst>
              <a:gd name="adj" fmla="val 469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95892" y="1094333"/>
            <a:ext cx="522965" cy="154305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r" indent="0" marL="0">
              <a:buNone/>
            </a:pPr>
            <a:r>
              <a:rPr lang="en-US" sz="1013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الأوامر</a:t>
            </a:r>
            <a:endParaRPr lang="en-US" sz="1013" dirty="0"/>
          </a:p>
        </p:txBody>
      </p:sp>
      <p:sp>
        <p:nvSpPr>
          <p:cNvPr id="23" name="Shape 21"/>
          <p:cNvSpPr/>
          <p:nvPr/>
        </p:nvSpPr>
        <p:spPr>
          <a:xfrm>
            <a:off x="578644" y="1772096"/>
            <a:ext cx="37433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816995" y="1530066"/>
            <a:ext cx="504974" cy="184023"/>
          </a:xfrm>
          <a:prstGeom prst="roundRect">
            <a:avLst>
              <a:gd name="adj" fmla="val 3105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816995" y="1539925"/>
            <a:ext cx="50497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/status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45545" y="1568500"/>
            <a:ext cx="92869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06540" y="1547068"/>
            <a:ext cx="116042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جدول صحة الأجهزة الستة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8644" y="2210544"/>
            <a:ext cx="37433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440720" y="1968514"/>
            <a:ext cx="881249" cy="184023"/>
          </a:xfrm>
          <a:prstGeom prst="roundRect">
            <a:avLst>
              <a:gd name="adj" fmla="val 3105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40720" y="1978372"/>
            <a:ext cx="88124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/cpu R2-Branch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69270" y="2006947"/>
            <a:ext cx="92869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524074" y="1985516"/>
            <a:ext cx="166661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استقصاء SNMP حيّ للمعالج والذاكرة</a:t>
            </a:r>
            <a:endParaRPr lang="en-US" sz="788" dirty="0"/>
          </a:p>
        </p:txBody>
      </p:sp>
      <p:sp>
        <p:nvSpPr>
          <p:cNvPr id="33" name="Shape 31"/>
          <p:cNvSpPr/>
          <p:nvPr/>
        </p:nvSpPr>
        <p:spPr>
          <a:xfrm>
            <a:off x="578644" y="2648992"/>
            <a:ext cx="37433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3494410" y="2406962"/>
            <a:ext cx="827559" cy="184023"/>
          </a:xfrm>
          <a:prstGeom prst="roundRect">
            <a:avLst>
              <a:gd name="adj" fmla="val 3105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483989" y="2416820"/>
            <a:ext cx="84840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/ifaces R3-HQ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22960" y="2445395"/>
            <a:ext cx="92869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367100" y="2423964"/>
            <a:ext cx="87727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جدول واجهات حيّ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78644" y="3087439"/>
            <a:ext cx="37433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3816995" y="2845409"/>
            <a:ext cx="504974" cy="184023"/>
          </a:xfrm>
          <a:prstGeom prst="roundRect">
            <a:avLst>
              <a:gd name="adj" fmla="val 3105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816995" y="2855268"/>
            <a:ext cx="50497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/alerts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645545" y="2883843"/>
            <a:ext cx="92869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006924" y="2862411"/>
            <a:ext cx="56004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سجل مؤرَّخ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763194" y="3283857"/>
            <a:ext cx="558775" cy="184023"/>
          </a:xfrm>
          <a:prstGeom prst="roundRect">
            <a:avLst>
              <a:gd name="adj" fmla="val 3105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763194" y="3293715"/>
            <a:ext cx="5587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/mute 30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591744" y="3322290"/>
            <a:ext cx="92869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8669" y="3300859"/>
            <a:ext cx="9944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كتمة لأغراض الصيانة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57850" y="4063454"/>
            <a:ext cx="3086100" cy="613470"/>
          </a:xfrm>
          <a:prstGeom prst="roundRect">
            <a:avLst>
              <a:gd name="adj" fmla="val 21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5657850" y="4067026"/>
            <a:ext cx="3086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29663" y="4063454"/>
            <a:ext cx="0" cy="613470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57850" y="4673352"/>
            <a:ext cx="3086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1422" y="4063454"/>
            <a:ext cx="0" cy="61347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5338" y="421347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891B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547" dirty="0"/>
          </a:p>
        </p:txBody>
      </p:sp>
      <p:sp>
        <p:nvSpPr>
          <p:cNvPr id="53" name="Text 51"/>
          <p:cNvSpPr/>
          <p:nvPr/>
        </p:nvSpPr>
        <p:spPr>
          <a:xfrm>
            <a:off x="5807869" y="4199186"/>
            <a:ext cx="2521744" cy="342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6"/>
              </a:lnSpc>
              <a:buNone/>
            </a:pPr>
            <a:r>
              <a:rPr lang="en-US" sz="816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التخويل بالدردشة فقط</a:t>
            </a:r>
            <a:pPr algn="r" indent="0" marL="0">
              <a:lnSpc>
                <a:spcPts val="131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— يرفض البوت المحادثات الأخرى، وسلسلة community لا تغادر مضيف المختبر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00050" y="3932634"/>
            <a:ext cx="314325" cy="314325"/>
          </a:xfrm>
          <a:prstGeom prst="ellipse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32911" y="396549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56" name="Text 54"/>
          <p:cNvSpPr/>
          <p:nvPr/>
        </p:nvSpPr>
        <p:spPr>
          <a:xfrm>
            <a:off x="807244" y="3911203"/>
            <a:ext cx="3364929" cy="419695"/>
          </a:xfrm>
          <a:prstGeom prst="roundRect">
            <a:avLst>
              <a:gd name="adj" fmla="val 3404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133350" dist="38100" dir="5400000">
              <a:srgbClr val="0F2A43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928688" y="3996928"/>
            <a:ext cx="3231770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2E8F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🔴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CRITICAL —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R2-Branch: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CPU =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93%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(threshold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85%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16" dirty="0"/>
          </a:p>
        </p:txBody>
      </p:sp>
      <p:sp>
        <p:nvSpPr>
          <p:cNvPr id="58" name="Text 56"/>
          <p:cNvSpPr/>
          <p:nvPr/>
        </p:nvSpPr>
        <p:spPr>
          <a:xfrm>
            <a:off x="3633527" y="4180880"/>
            <a:ext cx="45589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8FA3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10:02:11</a:t>
            </a:r>
            <a:endParaRPr lang="en-US" sz="619" dirty="0"/>
          </a:p>
        </p:txBody>
      </p:sp>
      <p:sp>
        <p:nvSpPr>
          <p:cNvPr id="59" name="Text 57"/>
          <p:cNvSpPr/>
          <p:nvPr/>
        </p:nvSpPr>
        <p:spPr>
          <a:xfrm>
            <a:off x="807244" y="4409480"/>
            <a:ext cx="3364929" cy="419695"/>
          </a:xfrm>
          <a:prstGeom prst="roundRect">
            <a:avLst>
              <a:gd name="adj" fmla="val 3404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133350" dist="38100" dir="5400000">
              <a:srgbClr val="0F2A43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928688" y="4495205"/>
            <a:ext cx="2698288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RESOLVED —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R2-Branch: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CPU back to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26%</a:t>
            </a:r>
            <a:endParaRPr lang="en-US" sz="816" dirty="0"/>
          </a:p>
        </p:txBody>
      </p:sp>
      <p:sp>
        <p:nvSpPr>
          <p:cNvPr id="61" name="Text 59"/>
          <p:cNvSpPr/>
          <p:nvPr/>
        </p:nvSpPr>
        <p:spPr>
          <a:xfrm>
            <a:off x="3633527" y="4679156"/>
            <a:ext cx="45589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8FA3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10:02:47</a:t>
            </a:r>
            <a:endParaRPr lang="en-US" sz="619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42900"/>
            <a:ext cx="863600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Tahoma"/>
                <a:ea typeface="Carlito" pitchFamily="34" charset="-122"/>
                <a:cs typeface="Tahoma"/>
              </a:rPr>
              <a:t>التحقق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92919"/>
            <a:ext cx="8636000" cy="34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86"/>
              </a:lnSpc>
              <a:buNone/>
            </a:pPr>
            <a:r>
              <a:rPr lang="en-US" sz="1913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مقيس لا مُدَّعى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6747272" y="940743"/>
            <a:ext cx="1993106" cy="934715"/>
          </a:xfrm>
          <a:prstGeom prst="roundRect">
            <a:avLst>
              <a:gd name="adj" fmla="val 142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443913" y="1058614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6" name="Text 4"/>
          <p:cNvSpPr/>
          <p:nvPr/>
        </p:nvSpPr>
        <p:spPr>
          <a:xfrm>
            <a:off x="7217509" y="1272927"/>
            <a:ext cx="1376422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75"/>
              </a:lnSpc>
              <a:buNone/>
            </a:pPr>
            <a:r>
              <a:rPr lang="en-US" sz="225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22/22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893719" y="1637258"/>
            <a:ext cx="1700213" cy="134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اختباراً آلياً ناجحاً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32722" y="940743"/>
            <a:ext cx="1993106" cy="934715"/>
          </a:xfrm>
          <a:prstGeom prst="roundRect">
            <a:avLst>
              <a:gd name="adj" fmla="val 142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29363" y="1058614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77" dirty="0"/>
          </a:p>
        </p:txBody>
      </p:sp>
      <p:sp>
        <p:nvSpPr>
          <p:cNvPr id="10" name="Text 8"/>
          <p:cNvSpPr/>
          <p:nvPr/>
        </p:nvSpPr>
        <p:spPr>
          <a:xfrm>
            <a:off x="5928777" y="1272927"/>
            <a:ext cx="550605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75"/>
              </a:lnSpc>
              <a:buNone/>
            </a:pPr>
            <a:r>
              <a:rPr lang="en-US" sz="225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779169" y="1637258"/>
            <a:ext cx="1700213" cy="13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تنبيهاً في تمرين حوادث واحد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18172" y="940743"/>
            <a:ext cx="1993106" cy="934715"/>
          </a:xfrm>
          <a:prstGeom prst="roundRect">
            <a:avLst>
              <a:gd name="adj" fmla="val 142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14813" y="1058614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477" dirty="0"/>
          </a:p>
        </p:txBody>
      </p:sp>
      <p:sp>
        <p:nvSpPr>
          <p:cNvPr id="14" name="Text 12"/>
          <p:cNvSpPr/>
          <p:nvPr/>
        </p:nvSpPr>
        <p:spPr>
          <a:xfrm>
            <a:off x="3539014" y="1272927"/>
            <a:ext cx="825818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75"/>
              </a:lnSpc>
              <a:buNone/>
            </a:pPr>
            <a:r>
              <a:rPr lang="en-US" sz="2250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3434036" y="1408658"/>
            <a:ext cx="386405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13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ثانية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2664619" y="1637258"/>
            <a:ext cx="1700213" cy="134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زمن التنبيه من الـTrap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3622" y="940743"/>
            <a:ext cx="1993106" cy="934715"/>
          </a:xfrm>
          <a:prstGeom prst="roundRect">
            <a:avLst>
              <a:gd name="adj" fmla="val 142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100263" y="1058614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77" dirty="0"/>
          </a:p>
        </p:txBody>
      </p:sp>
      <p:sp>
        <p:nvSpPr>
          <p:cNvPr id="19" name="Text 17"/>
          <p:cNvSpPr/>
          <p:nvPr/>
        </p:nvSpPr>
        <p:spPr>
          <a:xfrm>
            <a:off x="1055561" y="1272927"/>
            <a:ext cx="1194721" cy="263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18"/>
              </a:lnSpc>
              <a:buNone/>
            </a:pPr>
            <a:r>
              <a:rPr lang="en-US" sz="1744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1.4–3.9</a:t>
            </a:r>
            <a:endParaRPr lang="en-US" sz="1744" dirty="0"/>
          </a:p>
        </p:txBody>
      </p:sp>
      <p:sp>
        <p:nvSpPr>
          <p:cNvPr id="20" name="Text 18"/>
          <p:cNvSpPr/>
          <p:nvPr/>
        </p:nvSpPr>
        <p:spPr>
          <a:xfrm>
            <a:off x="902247" y="1351508"/>
            <a:ext cx="386405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13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ثانية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550069" y="1566490"/>
            <a:ext cx="1700213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من الاستقصاء عند فاصل 5 ثوانٍ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3622" y="1996901"/>
            <a:ext cx="8336756" cy="2384003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0069" y="2328081"/>
          <a:ext cx="8043863" cy="914400"/>
        </p:xfrm>
        <a:graphic>
          <a:graphicData uri="http://schemas.openxmlformats.org/drawingml/2006/table">
            <a:tbl>
              <a:tblPr/>
              <a:tblGrid>
                <a:gridCol w="3947033"/>
                <a:gridCol w="1254621"/>
                <a:gridCol w="1254621"/>
                <a:gridCol w="1587587"/>
              </a:tblGrid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الحادث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14300" marT="114300" marB="6429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الحدث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14300" marT="114300" marB="6429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الكشف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14300" marT="114300" marB="6429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زمن الاستجابة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14300" marT="114300" marB="6429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R2 CPU 78% (warning)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6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22.5 ث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6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23.8 ث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1.4 ث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R2 CPU 93% (critical)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6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30.0 ث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6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33.9 ث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3.9 ث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R3 Gi0/0 link down (trap)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6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40.0 ث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6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40.4 ث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0.4 ث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R1 memory 81% (warning)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6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57.5 ث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6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58.9 ث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1.4 ث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R2 CPU recovery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6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82.5 ث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6" dirty="0">
                          <a:solidFill>
                            <a:srgbClr val="475569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83.9 ث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6" dirty="0">
                          <a:solidFill>
                            <a:srgbClr val="0F2A43"/>
                          </a:solidFill>
                          <a:latin typeface="Tahoma"/>
                          <a:ea typeface="Carlito" pitchFamily="34" charset="-122"/>
                          <a:cs typeface="Tahoma"/>
                        </a:rPr>
                        <a:t>1.4 ث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03622" y="4502348"/>
            <a:ext cx="8336756" cy="323255"/>
          </a:xfrm>
          <a:prstGeom prst="roundRect">
            <a:avLst>
              <a:gd name="adj" fmla="val 4125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8479631" y="459968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3"/>
          <p:cNvSpPr/>
          <p:nvPr/>
        </p:nvSpPr>
        <p:spPr>
          <a:xfrm>
            <a:off x="7392023" y="4606826"/>
            <a:ext cx="101617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test_system.py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340940" y="4599682"/>
            <a:ext cx="182880" cy="13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424857" y="4591645"/>
            <a:ext cx="491322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أمر واحد، دقيقتان ونصف، دليل قابل لإعادة التشغيل: اختبار بروتوكول، وفحص إقلاع الوكلاء، وتمرين حوادث، واختبار البوت</a:t>
            </a:r>
            <a:endParaRPr lang="en-US" sz="759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42900"/>
            <a:ext cx="863600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Tahoma"/>
                <a:ea typeface="Carlito" pitchFamily="34" charset="-122"/>
                <a:cs typeface="Tahoma"/>
              </a:rPr>
              <a:t>عرض حي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92919"/>
            <a:ext cx="8636000" cy="340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86"/>
              </a:lnSpc>
              <a:buNone/>
            </a:pPr>
            <a:r>
              <a:rPr lang="en-US" sz="1913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ثلاث دقائق من شبكة سليمة إلى إنقاذ الموقف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7770095" y="1996455"/>
            <a:ext cx="755709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إقلاع الوكلاء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7624971" y="2191819"/>
            <a:ext cx="1045957" cy="187023"/>
          </a:xfrm>
          <a:prstGeom prst="roundRect">
            <a:avLst>
              <a:gd name="adj" fmla="val 35651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47831" y="2201838"/>
            <a:ext cx="1000237" cy="223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155E75"/>
                </a:solidFill>
                <a:latin typeface="Tahoma"/>
                <a:ea typeface="Carlito" pitchFamily="34" charset="-122"/>
                <a:cs typeface="Tahoma"/>
              </a:rPr>
              <a:t>تصل </a:t>
            </a:r>
            <a:pPr algn="ct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pPr algn="ct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155E75"/>
                </a:solidFill>
                <a:latin typeface="Tahoma"/>
                <a:ea typeface="Carlito" pitchFamily="34" charset="-122"/>
                <a:cs typeface="Tahoma"/>
              </a:rPr>
              <a:t> رسائل coldStart</a:t>
            </a:r>
            <a:endParaRPr lang="en-US" sz="647" dirty="0"/>
          </a:p>
        </p:txBody>
      </p:sp>
      <p:sp>
        <p:nvSpPr>
          <p:cNvPr id="7" name="Text 5"/>
          <p:cNvSpPr/>
          <p:nvPr/>
        </p:nvSpPr>
        <p:spPr>
          <a:xfrm>
            <a:off x="7864130" y="2483123"/>
            <a:ext cx="41290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0:00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6672129" y="2483123"/>
            <a:ext cx="41290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0:45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6335211" y="2911748"/>
            <a:ext cx="1241584" cy="3333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ارتفاع CPU في R2 إلى </a:t>
            </a:r>
            <a:pPr algn="ctr" indent="0" marL="0">
              <a:lnSpc>
                <a:spcPts val="1223"/>
              </a:lnSpc>
              <a:buNone/>
            </a:pPr>
            <a:r>
              <a:rPr lang="en-US" sz="802" b="1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78%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6468911" y="3262542"/>
            <a:ext cx="974296" cy="186023"/>
          </a:xfrm>
          <a:prstGeom prst="roundRect">
            <a:avLst>
              <a:gd name="adj" fmla="val 3584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91771" y="3272507"/>
            <a:ext cx="92857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2400E"/>
                </a:solidFill>
                <a:latin typeface="Tahoma"/>
                <a:ea typeface="Carlito" pitchFamily="34" charset="-122"/>
                <a:cs typeface="Tahoma"/>
              </a:rPr>
              <a:t>تنبيه تحذير WARNING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97561" y="1997348"/>
            <a:ext cx="1132770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CPU في R2 يبلغ </a:t>
            </a:r>
            <a:pPr algn="ctr" indent="0" marL="0">
              <a:lnSpc>
                <a:spcPts val="1223"/>
              </a:lnSpc>
              <a:buNone/>
            </a:pPr>
            <a:r>
              <a:rPr lang="en-US" sz="802" b="1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93%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5301578" y="2192765"/>
            <a:ext cx="924848" cy="186023"/>
          </a:xfrm>
          <a:prstGeom prst="roundRect">
            <a:avLst>
              <a:gd name="adj" fmla="val 35842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24438" y="2202731"/>
            <a:ext cx="87912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91B1B"/>
                </a:solidFill>
                <a:latin typeface="Tahoma"/>
                <a:ea typeface="Carlito" pitchFamily="34" charset="-122"/>
                <a:cs typeface="Tahoma"/>
              </a:rPr>
              <a:t>تنبيه حرج CRITICAL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0127" y="2483123"/>
            <a:ext cx="41290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1:00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4288125" y="2483123"/>
            <a:ext cx="41290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1:20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3910574" y="2911748"/>
            <a:ext cx="1322851" cy="3333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سقوط وصلة Gi0/0 في R3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4069147" y="3272507"/>
            <a:ext cx="1005818" cy="166985"/>
          </a:xfrm>
          <a:prstGeom prst="roundRect">
            <a:avLst>
              <a:gd name="adj" fmla="val 39929"/>
            </a:avLst>
          </a:prstGeom>
          <a:solidFill>
            <a:srgbClr val="155E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069147" y="3272507"/>
            <a:ext cx="1005818" cy="22303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t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FFFFF"/>
                </a:solidFill>
                <a:latin typeface="Tahoma"/>
                <a:ea typeface="Carlito" pitchFamily="34" charset="-122"/>
                <a:cs typeface="Tahoma"/>
              </a:rPr>
              <a:t>تنبيه Trap خلال </a:t>
            </a:r>
            <a:pPr algn="ct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</a:t>
            </a:r>
            <a:pPr algn="ct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FFFFF"/>
                </a:solidFill>
                <a:latin typeface="Tahoma"/>
                <a:ea typeface="Carlito" pitchFamily="34" charset="-122"/>
                <a:cs typeface="Tahoma"/>
              </a:rPr>
              <a:t> ثانية</a:t>
            </a:r>
            <a:endParaRPr lang="en-US" sz="647" dirty="0"/>
          </a:p>
        </p:txBody>
      </p:sp>
      <p:sp>
        <p:nvSpPr>
          <p:cNvPr id="20" name="Text 18"/>
          <p:cNvSpPr/>
          <p:nvPr/>
        </p:nvSpPr>
        <p:spPr>
          <a:xfrm>
            <a:off x="2745260" y="1997348"/>
            <a:ext cx="1269477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ضغط ذاكرة R1 عند </a:t>
            </a:r>
            <a:pPr algn="ctr" indent="0" marL="0">
              <a:lnSpc>
                <a:spcPts val="1223"/>
              </a:lnSpc>
              <a:buNone/>
            </a:pPr>
            <a:r>
              <a:rPr lang="en-US" sz="802" b="1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81%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3082233" y="2192765"/>
            <a:ext cx="595641" cy="186023"/>
          </a:xfrm>
          <a:prstGeom prst="roundRect">
            <a:avLst>
              <a:gd name="adj" fmla="val 3584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075742" y="2202731"/>
            <a:ext cx="60862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2400E"/>
                </a:solidFill>
                <a:latin typeface="Tahoma"/>
                <a:ea typeface="Carlito" pitchFamily="34" charset="-122"/>
                <a:cs typeface="Tahoma"/>
              </a:rPr>
              <a:t>تحذير ذاكرة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096124" y="2483123"/>
            <a:ext cx="41290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1:55</a:t>
            </a:r>
            <a:endParaRPr lang="en-US" sz="844" dirty="0"/>
          </a:p>
        </p:txBody>
      </p:sp>
      <p:sp>
        <p:nvSpPr>
          <p:cNvPr id="24" name="Text 22"/>
          <p:cNvSpPr/>
          <p:nvPr/>
        </p:nvSpPr>
        <p:spPr>
          <a:xfrm>
            <a:off x="1904122" y="2483123"/>
            <a:ext cx="41290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2:20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1800639" y="2911748"/>
            <a:ext cx="774716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عودة وصلة R3</a:t>
            </a:r>
            <a:endParaRPr lang="en-US" sz="844" dirty="0"/>
          </a:p>
        </p:txBody>
      </p:sp>
      <p:sp>
        <p:nvSpPr>
          <p:cNvPr id="26" name="Text 24"/>
          <p:cNvSpPr/>
          <p:nvPr/>
        </p:nvSpPr>
        <p:spPr>
          <a:xfrm>
            <a:off x="1814312" y="3107165"/>
            <a:ext cx="747259" cy="186023"/>
          </a:xfrm>
          <a:prstGeom prst="roundRect">
            <a:avLst>
              <a:gd name="adj" fmla="val 35842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778727" y="3117131"/>
            <a:ext cx="81842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065F46"/>
                </a:solidFill>
                <a:latin typeface="Tahoma"/>
                <a:ea typeface="Carlito" pitchFamily="34" charset="-122"/>
                <a:cs typeface="Tahoma"/>
              </a:rPr>
              <a:t>إشعار LINK UP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1380" y="1997348"/>
            <a:ext cx="949229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هدوء CPU في R2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463027" y="2192765"/>
            <a:ext cx="1065937" cy="186023"/>
          </a:xfrm>
          <a:prstGeom prst="roundRect">
            <a:avLst>
              <a:gd name="adj" fmla="val 35842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5887" y="2202731"/>
            <a:ext cx="102021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065F46"/>
                </a:solidFill>
                <a:latin typeface="Tahoma"/>
                <a:ea typeface="Carlito" pitchFamily="34" charset="-122"/>
                <a:cs typeface="Tahoma"/>
              </a:rPr>
              <a:t>إشعار تعافٍ RESOLVED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2120" y="2483123"/>
            <a:ext cx="41290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844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2:45</a:t>
            </a:r>
            <a:endParaRPr lang="en-US" sz="844" dirty="0"/>
          </a:p>
        </p:txBody>
      </p:sp>
      <p:sp>
        <p:nvSpPr>
          <p:cNvPr id="32" name="Text 30"/>
          <p:cNvSpPr/>
          <p:nvPr/>
        </p:nvSpPr>
        <p:spPr>
          <a:xfrm>
            <a:off x="2060860" y="4504134"/>
            <a:ext cx="5022279" cy="321469"/>
          </a:xfrm>
          <a:prstGeom prst="roundRect">
            <a:avLst>
              <a:gd name="adj" fmla="val 4148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79530" y="46005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5997625" y="4607719"/>
            <a:ext cx="71046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شغّله بنفسك: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24664" y="4607719"/>
            <a:ext cx="94361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./run_demo.sh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35882" y="4607719"/>
            <a:ext cx="300606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— وكلاء ومحرّك وبوت معاً، وتصل التنبيهات إلى هاتفك في الزمن الحقيقي</a:t>
            </a:r>
            <a:endParaRPr lang="en-US" sz="788" dirty="0"/>
          </a:p>
        </p:txBody>
      </p:sp>
      <p:sp>
        <p:nvSpPr>
          <p:cNvPr id="37" name="Text 35"/>
          <p:cNvSpPr/>
          <p:nvPr/>
        </p:nvSpPr>
        <p:spPr>
          <a:xfrm>
            <a:off x="485775" y="2722438"/>
            <a:ext cx="8172450" cy="21431"/>
          </a:xfrm>
          <a:prstGeom prst="roundRect">
            <a:avLst>
              <a:gd name="adj" fmla="val 133335"/>
            </a:avLst>
          </a:prstGeom>
          <a:solidFill>
            <a:srgbClr val="0891B2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097999" y="2683148"/>
            <a:ext cx="100013" cy="100013"/>
          </a:xfrm>
          <a:prstGeom prst="ellipse">
            <a:avLst/>
          </a:prstGeom>
          <a:solidFill>
            <a:srgbClr val="0891B2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91B2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05997" y="2683148"/>
            <a:ext cx="100013" cy="100013"/>
          </a:xfrm>
          <a:prstGeom prst="ellipse">
            <a:avLst/>
          </a:prstGeom>
          <a:solidFill>
            <a:srgbClr val="0891B2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91B2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713995" y="2683148"/>
            <a:ext cx="100013" cy="100013"/>
          </a:xfrm>
          <a:prstGeom prst="ellipse">
            <a:avLst/>
          </a:prstGeom>
          <a:solidFill>
            <a:srgbClr val="0891B2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91B2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521994" y="2683148"/>
            <a:ext cx="100013" cy="100013"/>
          </a:xfrm>
          <a:prstGeom prst="ellipse">
            <a:avLst/>
          </a:prstGeom>
          <a:solidFill>
            <a:srgbClr val="0891B2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91B2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29992" y="2683148"/>
            <a:ext cx="100013" cy="100013"/>
          </a:xfrm>
          <a:prstGeom prst="ellipse">
            <a:avLst/>
          </a:prstGeom>
          <a:solidFill>
            <a:srgbClr val="0891B2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91B2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137990" y="2683148"/>
            <a:ext cx="100013" cy="100013"/>
          </a:xfrm>
          <a:prstGeom prst="ellipse">
            <a:avLst/>
          </a:prstGeom>
          <a:solidFill>
            <a:srgbClr val="0891B2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91B2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45989" y="2683148"/>
            <a:ext cx="100013" cy="100013"/>
          </a:xfrm>
          <a:prstGeom prst="ellipse">
            <a:avLst/>
          </a:prstGeom>
          <a:solidFill>
            <a:srgbClr val="0891B2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91B2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42900"/>
            <a:ext cx="863600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Tahoma"/>
                <a:ea typeface="Carlito" pitchFamily="34" charset="-122"/>
                <a:cs typeface="Tahoma"/>
              </a:rPr>
              <a:t>الخاتمة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92919"/>
            <a:ext cx="8636000" cy="340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86"/>
              </a:lnSpc>
              <a:buNone/>
            </a:pPr>
            <a:r>
              <a:rPr lang="en-US" sz="1913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ما الذي أُنجز — وإلى أين يمتد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647009" y="940743"/>
            <a:ext cx="4093369" cy="3884861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44744" y="1108621"/>
            <a:ext cx="596865" cy="162020"/>
          </a:xfrm>
          <a:prstGeom prst="rect">
            <a:avLst/>
          </a:prstGeom>
          <a:noFill/>
          <a:ln/>
        </p:spPr>
        <p:txBody>
          <a:bodyPr wrap="none" lIns="0" tIns="0" rIns="0" bIns="92869" rtlCol="0" anchor="t"/>
          <a:lstStyle/>
          <a:p>
            <a:pPr algn="r" indent="0" marL="0">
              <a:buNone/>
            </a:pPr>
            <a:r>
              <a:rPr lang="en-US" sz="1069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ما أُنجز</a:t>
            </a:r>
            <a:endParaRPr lang="en-US" sz="1069" dirty="0"/>
          </a:p>
        </p:txBody>
      </p:sp>
      <p:sp>
        <p:nvSpPr>
          <p:cNvPr id="6" name="Text 4"/>
          <p:cNvSpPr/>
          <p:nvPr/>
        </p:nvSpPr>
        <p:spPr>
          <a:xfrm>
            <a:off x="8401050" y="1694855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7" name="Text 5"/>
          <p:cNvSpPr/>
          <p:nvPr/>
        </p:nvSpPr>
        <p:spPr>
          <a:xfrm>
            <a:off x="4836319" y="1680567"/>
            <a:ext cx="3479006" cy="384557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r" indent="0" marL="0">
              <a:lnSpc>
                <a:spcPts val="1392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مختبر كامل في Packet Tracer 8.2</a:t>
            </a:r>
            <a:pPr algn="r" indent="0" marL="0">
              <a:lnSpc>
                <a:spcPts val="1392"/>
              </a:lnSpc>
              <a:buNone/>
            </a:pPr>
            <a:r>
              <a:rPr lang="en-US" sz="816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r" indent="0" marL="0">
              <a:lnSpc>
                <a:spcPts val="1392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pPr algn="r" indent="0" marL="0">
              <a:lnSpc>
                <a:spcPts val="1392"/>
              </a:lnSpc>
              <a:buNone/>
            </a:pPr>
            <a:r>
              <a:rPr lang="en-US" sz="816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جهازاً وSNMP على الموجّهات والمبدّلات الستة، يفتح دون أي إعداد يدوي</a:t>
            </a:r>
            <a:endParaRPr lang="en-US" sz="816" dirty="0"/>
          </a:p>
        </p:txBody>
      </p:sp>
      <p:sp>
        <p:nvSpPr>
          <p:cNvPr id="8" name="Text 6"/>
          <p:cNvSpPr/>
          <p:nvPr/>
        </p:nvSpPr>
        <p:spPr>
          <a:xfrm>
            <a:off x="8401050" y="2365697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9" name="Text 7"/>
          <p:cNvSpPr/>
          <p:nvPr/>
        </p:nvSpPr>
        <p:spPr>
          <a:xfrm>
            <a:off x="4836319" y="2351410"/>
            <a:ext cx="3479006" cy="384557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r" indent="0" marL="0">
              <a:lnSpc>
                <a:spcPts val="1392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تنفيذ SNMPv2c على مستوى البروتوكول</a:t>
            </a:r>
            <a:pPr algn="r" indent="0" marL="0">
              <a:lnSpc>
                <a:spcPts val="1392"/>
              </a:lnSpc>
              <a:buNone/>
            </a:pPr>
            <a:r>
              <a:rPr lang="en-US" sz="816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— مرمّز BER ورسائل PDU وTraps دون أي تبعيات</a:t>
            </a:r>
            <a:endParaRPr lang="en-US" sz="816" dirty="0"/>
          </a:p>
        </p:txBody>
      </p:sp>
      <p:sp>
        <p:nvSpPr>
          <p:cNvPr id="10" name="Text 8"/>
          <p:cNvSpPr/>
          <p:nvPr/>
        </p:nvSpPr>
        <p:spPr>
          <a:xfrm>
            <a:off x="8401050" y="3036540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11" name="Text 9"/>
          <p:cNvSpPr/>
          <p:nvPr/>
        </p:nvSpPr>
        <p:spPr>
          <a:xfrm>
            <a:off x="4836319" y="3022253"/>
            <a:ext cx="3479006" cy="384557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r" indent="0" marL="0">
              <a:lnSpc>
                <a:spcPts val="1392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محرّك جاهز للإنتاج</a:t>
            </a:r>
            <a:pPr algn="r" indent="0" marL="0">
              <a:lnSpc>
                <a:spcPts val="1392"/>
              </a:lnSpc>
              <a:buNone/>
            </a:pPr>
            <a:r>
              <a:rPr lang="en-US" sz="816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— الانتقال إلى عتاد حقيقي يعني تعديل العناوين في ملف YAML واحد</a:t>
            </a:r>
            <a:endParaRPr lang="en-US" sz="816" dirty="0"/>
          </a:p>
        </p:txBody>
      </p:sp>
      <p:sp>
        <p:nvSpPr>
          <p:cNvPr id="12" name="Text 10"/>
          <p:cNvSpPr/>
          <p:nvPr/>
        </p:nvSpPr>
        <p:spPr>
          <a:xfrm>
            <a:off x="8401050" y="3707383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13" name="Text 11"/>
          <p:cNvSpPr/>
          <p:nvPr/>
        </p:nvSpPr>
        <p:spPr>
          <a:xfrm>
            <a:off x="5383150" y="3693096"/>
            <a:ext cx="2932175" cy="199994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r" indent="0" marL="0">
              <a:lnSpc>
                <a:spcPts val="1392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تنبيه Traps في دون الثانية</a:t>
            </a:r>
            <a:pPr algn="r" indent="0" marL="0">
              <a:lnSpc>
                <a:spcPts val="1392"/>
              </a:lnSpc>
              <a:buNone/>
            </a:pPr>
            <a:r>
              <a:rPr lang="en-US" sz="816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متحقق من طرف إلى طرف (</a:t>
            </a:r>
            <a:pPr algn="r" indent="0" marL="0">
              <a:lnSpc>
                <a:spcPts val="1392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</a:t>
            </a:r>
            <a:pPr algn="r" indent="0" marL="0">
              <a:lnSpc>
                <a:spcPts val="1392"/>
              </a:lnSpc>
              <a:buNone/>
            </a:pPr>
            <a:r>
              <a:rPr lang="en-US" sz="816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ثانية)</a:t>
            </a:r>
            <a:endParaRPr lang="en-US" sz="816" dirty="0"/>
          </a:p>
        </p:txBody>
      </p:sp>
      <p:sp>
        <p:nvSpPr>
          <p:cNvPr id="14" name="Text 12"/>
          <p:cNvSpPr/>
          <p:nvPr/>
        </p:nvSpPr>
        <p:spPr>
          <a:xfrm>
            <a:off x="8401050" y="4207334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15" name="Text 13"/>
          <p:cNvSpPr/>
          <p:nvPr/>
        </p:nvSpPr>
        <p:spPr>
          <a:xfrm>
            <a:off x="5705521" y="4193046"/>
            <a:ext cx="2609804" cy="199994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r" indent="0" marL="0">
              <a:lnSpc>
                <a:spcPts val="1392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مستوى تحكّم تفاعلي عبر Telegram</a:t>
            </a:r>
            <a:pPr algn="r" indent="0" marL="0">
              <a:lnSpc>
                <a:spcPts val="1392"/>
              </a:lnSpc>
              <a:buNone/>
            </a:pPr>
            <a:r>
              <a:rPr lang="en-US" sz="816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بأوامر SNMP حيّة</a:t>
            </a:r>
            <a:endParaRPr lang="en-US" sz="816" dirty="0"/>
          </a:p>
        </p:txBody>
      </p:sp>
      <p:sp>
        <p:nvSpPr>
          <p:cNvPr id="16" name="Text 14"/>
          <p:cNvSpPr/>
          <p:nvPr/>
        </p:nvSpPr>
        <p:spPr>
          <a:xfrm>
            <a:off x="403622" y="940743"/>
            <a:ext cx="4093369" cy="3884861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9525" dir="5400000">
              <a:srgbClr val="0F2A43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971074" y="1108621"/>
            <a:ext cx="1100863" cy="162020"/>
          </a:xfrm>
          <a:prstGeom prst="rect">
            <a:avLst/>
          </a:prstGeom>
          <a:noFill/>
          <a:ln/>
        </p:spPr>
        <p:txBody>
          <a:bodyPr wrap="none" lIns="0" tIns="0" rIns="0" bIns="92869" rtlCol="0" anchor="t"/>
          <a:lstStyle/>
          <a:p>
            <a:pPr algn="r" indent="0" marL="0">
              <a:buNone/>
            </a:pPr>
            <a:r>
              <a:rPr lang="en-US" sz="1069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أعمال مستقبلية</a:t>
            </a:r>
            <a:endParaRPr lang="en-US" sz="1069" dirty="0"/>
          </a:p>
        </p:txBody>
      </p:sp>
      <p:sp>
        <p:nvSpPr>
          <p:cNvPr id="18" name="Text 16"/>
          <p:cNvSpPr/>
          <p:nvPr/>
        </p:nvSpPr>
        <p:spPr>
          <a:xfrm>
            <a:off x="4007644" y="1780022"/>
            <a:ext cx="300038" cy="300038"/>
          </a:xfrm>
          <a:prstGeom prst="roundRect">
            <a:avLst>
              <a:gd name="adj" fmla="val 34921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043720" y="181609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20" name="Text 18"/>
          <p:cNvSpPr/>
          <p:nvPr/>
        </p:nvSpPr>
        <p:spPr>
          <a:xfrm>
            <a:off x="1108732" y="1780022"/>
            <a:ext cx="2813186" cy="199994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r" indent="0" marL="0">
              <a:lnSpc>
                <a:spcPts val="1392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SNMPv3</a:t>
            </a:r>
            <a:pPr algn="r" indent="0" marL="0">
              <a:lnSpc>
                <a:spcPts val="1392"/>
              </a:lnSpc>
              <a:buNone/>
            </a:pPr>
            <a:r>
              <a:rPr lang="en-US" sz="816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— مصادقة وخصوصية، والمحرّك مهيَّأ له بنيوياً من الآن</a:t>
            </a:r>
            <a:endParaRPr lang="en-US" sz="816" dirty="0"/>
          </a:p>
        </p:txBody>
      </p:sp>
      <p:sp>
        <p:nvSpPr>
          <p:cNvPr id="21" name="Text 19"/>
          <p:cNvSpPr/>
          <p:nvPr/>
        </p:nvSpPr>
        <p:spPr>
          <a:xfrm>
            <a:off x="4007644" y="2494285"/>
            <a:ext cx="300038" cy="300038"/>
          </a:xfrm>
          <a:prstGeom prst="roundRect">
            <a:avLst>
              <a:gd name="adj" fmla="val 34921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043720" y="253036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547" dirty="0"/>
          </a:p>
        </p:txBody>
      </p:sp>
      <p:sp>
        <p:nvSpPr>
          <p:cNvPr id="23" name="Text 21"/>
          <p:cNvSpPr/>
          <p:nvPr/>
        </p:nvSpPr>
        <p:spPr>
          <a:xfrm>
            <a:off x="592931" y="2494285"/>
            <a:ext cx="3328988" cy="384557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r" indent="0" marL="0">
              <a:lnSpc>
                <a:spcPts val="1392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سلاسل زمنية وGrafana</a:t>
            </a:r>
            <a:pPr algn="r" indent="0" marL="0">
              <a:lnSpc>
                <a:spcPts val="1392"/>
              </a:lnSpc>
              <a:buNone/>
            </a:pPr>
            <a:r>
              <a:rPr lang="en-US" sz="816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— من التنبيهات إلى لوحات قيادة (RRD / InfluxDB)</a:t>
            </a:r>
            <a:endParaRPr lang="en-US" sz="816" dirty="0"/>
          </a:p>
        </p:txBody>
      </p:sp>
      <p:sp>
        <p:nvSpPr>
          <p:cNvPr id="24" name="Text 22"/>
          <p:cNvSpPr/>
          <p:nvPr/>
        </p:nvSpPr>
        <p:spPr>
          <a:xfrm>
            <a:off x="4007644" y="3264582"/>
            <a:ext cx="300038" cy="300038"/>
          </a:xfrm>
          <a:prstGeom prst="roundRect">
            <a:avLst>
              <a:gd name="adj" fmla="val 34921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43720" y="330065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547" dirty="0"/>
          </a:p>
        </p:txBody>
      </p:sp>
      <p:sp>
        <p:nvSpPr>
          <p:cNvPr id="26" name="Text 24"/>
          <p:cNvSpPr/>
          <p:nvPr/>
        </p:nvSpPr>
        <p:spPr>
          <a:xfrm>
            <a:off x="1210419" y="3264582"/>
            <a:ext cx="2711500" cy="199994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r" indent="0" marL="0">
              <a:lnSpc>
                <a:spcPts val="1392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الانتقال إلى العتاد</a:t>
            </a:r>
            <a:pPr algn="r" indent="0" marL="0">
              <a:lnSpc>
                <a:spcPts val="1392"/>
              </a:lnSpc>
              <a:buNone/>
            </a:pPr>
            <a:r>
              <a:rPr lang="en-US" sz="816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— GNS3 أو موجّهات حقيقية والمسار موثَّق</a:t>
            </a:r>
            <a:endParaRPr lang="en-US" sz="816" dirty="0"/>
          </a:p>
        </p:txBody>
      </p:sp>
      <p:sp>
        <p:nvSpPr>
          <p:cNvPr id="27" name="Text 25"/>
          <p:cNvSpPr/>
          <p:nvPr/>
        </p:nvSpPr>
        <p:spPr>
          <a:xfrm>
            <a:off x="4007644" y="3978846"/>
            <a:ext cx="300038" cy="300038"/>
          </a:xfrm>
          <a:prstGeom prst="roundRect">
            <a:avLst>
              <a:gd name="adj" fmla="val 34921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043720" y="401492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1172245" y="3978846"/>
            <a:ext cx="2749674" cy="199994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r" indent="0" marL="0">
              <a:lnSpc>
                <a:spcPts val="1392"/>
              </a:lnSpc>
              <a:buNone/>
            </a:pPr>
            <a:r>
              <a:rPr lang="en-US" sz="844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كشف الشذوذ</a:t>
            </a:r>
            <a:pPr algn="r" indent="0" marL="0">
              <a:lnSpc>
                <a:spcPts val="1392"/>
              </a:lnSpc>
              <a:buNone/>
            </a:pPr>
            <a:r>
              <a:rPr lang="en-US" sz="816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 — خطوط أساس تتعلّم تلقائياً بدل العتبات الثابتة</a:t>
            </a:r>
            <a:endParaRPr lang="en-US" sz="816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3188" y="1609465"/>
            <a:ext cx="3857625" cy="142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03379" y="1880927"/>
            <a:ext cx="537353" cy="13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Tahoma"/>
                <a:ea typeface="Carlito" pitchFamily="34" charset="-122"/>
                <a:cs typeface="Tahoma"/>
              </a:rPr>
              <a:t>شكراً لكم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274432" y="2080952"/>
            <a:ext cx="8595248" cy="573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85"/>
              </a:lnSpc>
              <a:buNone/>
            </a:pPr>
            <a:r>
              <a:rPr lang="en-US" sz="3488" b="1" dirty="0">
                <a:solidFill>
                  <a:srgbClr val="0F2A43"/>
                </a:solidFill>
                <a:latin typeface="Tahoma"/>
                <a:ea typeface="Carlito" pitchFamily="34" charset="-122"/>
                <a:cs typeface="Tahoma"/>
              </a:rPr>
              <a:t>أسئلة ونقاش</a:t>
            </a:r>
            <a:endParaRPr lang="en-US" sz="3488" dirty="0"/>
          </a:p>
        </p:txBody>
      </p:sp>
      <p:sp>
        <p:nvSpPr>
          <p:cNvPr id="5" name="Text 2"/>
          <p:cNvSpPr/>
          <p:nvPr/>
        </p:nvSpPr>
        <p:spPr>
          <a:xfrm>
            <a:off x="3490298" y="2755255"/>
            <a:ext cx="2163404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69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ستة أجهزة، مستويا تنبيه، هاتف واحد</a:t>
            </a:r>
            <a:endParaRPr lang="en-US" sz="1069" dirty="0"/>
          </a:p>
        </p:txBody>
      </p:sp>
      <p:sp>
        <p:nvSpPr>
          <p:cNvPr id="6" name="Text 3"/>
          <p:cNvSpPr/>
          <p:nvPr/>
        </p:nvSpPr>
        <p:spPr>
          <a:xfrm>
            <a:off x="3480895" y="3119586"/>
            <a:ext cx="2182210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4" spc="11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[student@example.edu]</a:t>
            </a:r>
            <a:pPr algn="ctr" indent="0" marL="0">
              <a:buNone/>
            </a:pPr>
            <a:r>
              <a:rPr lang="en-US" sz="844" spc="11" kern="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pPr algn="ctr" indent="0" marL="0">
              <a:buNone/>
            </a:pPr>
            <a:r>
              <a:rPr lang="en-US" sz="844" spc="11" kern="0" dirty="0">
                <a:solidFill>
                  <a:srgbClr val="475569"/>
                </a:solidFill>
                <a:latin typeface="Tahoma"/>
                <a:ea typeface="Carlito" pitchFamily="34" charset="-122"/>
                <a:cs typeface="Tahoma"/>
              </a:rPr>
              <a:t>[الجامعة]</a:t>
            </a:r>
            <a:endParaRPr lang="en-US" sz="844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88" y="3519636"/>
            <a:ext cx="3857625" cy="142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" y="4694895"/>
            <a:ext cx="8001000" cy="1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Tahoma"/>
                <a:ea typeface="Carlito" pitchFamily="34" charset="-122"/>
                <a:cs typeface="Tahoma"/>
              </a:rPr>
              <a:t>التقرير الفني الكامل (PDF) وملف مختبر Packet Tracer وكود المصدر الكامل كلّها ضمن حزمة المشروع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2026-10-15T21:47:55Z</dcterms:created>
  <dcterms:modified xsi:type="dcterms:W3CDTF">2026-10-15T21:47:55Z</dcterms:modified>
</cp:coreProperties>
</file>
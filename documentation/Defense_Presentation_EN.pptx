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Greet the committee, introduce yourself, and state the project title: Smart Network Monitoring System.
- One-line framing: SNMP-based surveillance of a multi-site lab, automated with Python and Telegram alerts.
- Point to the technology footer: Packet Tracer 8.2, Python 3, SNMPv2c, Telegram Bot API.
- Fill in the student, supervisor and university placeholders before the actual defense.
- Bridge to the next slide: "let me start with why networks need this."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six agenda items in order — roughly one minute each.
- Emphasize the arc: fundamentals first, then the build (lab, engine, Telegram), then verification.
- Point at the right-hand stats as the promises: 6 monitored devices, 2 alert planes, 22/22 automated checks.
- Signpost that the talk closes with measured results and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Contrast the two columns: today the helpdesk is the outage sensor; MTTR grows with every added device.
- Operators waste time hopping CLI-to-CLI across 6+ devices, and incidents leave no history.
- This project is proactive: 15-second polling of CPU / memory / interfaces, thresholds before outage, sub-second traps.
- Close with FCAPS: we own the Fault and Performance planes end-to-end, the rest is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Stress that every objective carries a measurable acceptance criterion — nothing is hand-waved.
- O1 the lab, O2 protocol-level SNMPv2c with zero dependencies, O3 the threshold state machine.
- O4 the Telegram channel with live commands; O5 the 22 automated end-to-end checks.
- Each objective maps to a later slide — this grid is the contract for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figure left to right: the NMS (manager) polls, the agents answer, and traps flow back asynchronously.
- GET / GETNEXT ride UDP 161 — the polling plane; traps ride UDP 162 — the asynchronous plane.
- The community string is the only "authentication" v2c offers — treat it as a password, keep it read-only.
- Punchline: we implement the BER encoding ourselves in snmp_lite.py per RFC 3416 — no external libraries.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tree from iso(1) down: org, dod, internet — then the two branches we actually use.
- Under mgmt(2.1): sysUpTime, ifOperStatus, ifInOctets — the standard health objects.
- Under private → enterprises → cisco: CPU and memory pools — the Cisco-specific OIDs we poll.
- Table: polling gives trends at ≤ interval + 1.4 s; traps give 0.4 s push for link down and cold start.
- Punchline: a metric is just a numbered leaf — the poller only needs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the trade-off: GNS3 emulates real IOS but needs licensed images and is RAM-heavy; Packet Tracer is free via Networking Academy and student-friendly.
- Be honest about the boundary — PT's SNMP stack is simulated and NOT reachable from an external Python process, while GNS3 would be.
- Explain the hybrid decision: PT for the network design plane, our protocol-faithful SNMP agents as the live data plane with identical Cisco OIDs, community and trap host.
- Stress portability: only the endpoints in config.yaml change to move to real hardware.
- Close with the footnote — the .pkt lab is the design twin of the agents: same devices, addressing and SNMP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figure left to right: three sites, twelve devices, all pre-configured in one .pkt file that opens directly in Packet Tracer 8.2.
- Redundancy story: the OSPF area 0 triangle R1–R2–R3 means no single link failure isolates a site — two paths survive any one cut.
- Point at R3-HQ: router-on-a-stick separates VLAN 10 users from VLAN 20 management on a single physical trunk.
- Services plane: SVR-MGMT provides syslog + NTP at 192.168.20.50, and NMS-PC at 192.168.20.100 is both trap destination and poller.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Point out the hierarchy: /30 point-to-point subnets between routers, /24 LANs per site — documented, hierarchical, testable.
- Note the /30 efficiency argument — 50% address efficiency per link on point-to-point segments.
- Walk the HQ side: VLAN 10 users and VLAN 20 management share the R3 trunk via sub-interfaces Gi0/0.10 and Gi0/0.20.
- Highlight NMS-PC at 192.168.20.100 — the trap destination and poller the next slides depend on.
- Finish with loopbacks: R1 1.1.1.1 through R4 8.8.8.8 give OSPF stable router-ids independent of physical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Read the five lines slowly — this is the entire device-side configuration; everything else is our Python engine.
- Line 1: read-only community on purpose — a RW community would expose SET, i.e. remote config changes.
- Lines 2–3: location and contact surface as sysLocation / sysContact OIDs, proving agent identity to the poller.
- Line 4: traps are sent to NMS-PC 192.168.20.100 with the same community; line 5 enables link up/down and config notifications.
- Wrap up: applied identically on all 4 routers + 2 switches — verify live with 'show snmp'.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Orient the audience on the figure: three planes — simulated agents at the bottom, the monitoring engine in the middle, Telegram at the top.
- snmp_lite.py: SNMPv2c written from the RFC — BER codec, GET / GETNEXT and trap PDUs, stdlib only, zero dependencies.
- agent_sim.py: six Cisco-compatible agents with live cpu / memory / ifTable values, a trap emitter and scripted incidents for the demo.
- monitor.py ties it together: poller, threshold state machine, trap receiver, alert dispatcher and the Telegram queue.
- Land the closing line: we implemented the protocol, not just a library call — every byte on the wire is ours and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Core principle: a state per (device, metric) — alerts fire only on transitions, never on repeated values.
- Walk the machine: OK → WARNING at CPU ≥ 70% / MEM ≥ 75%, then CRITICAL at CPU ≥ 85% / MEM ≥ 90%; the dashed return path emits the recovery notice.
- R1 evidence: exactly one critical alert during a 105-second sustained CPU incident — no duplicates.
- R2: an SNMP timeout is its own alert — device DOWN until it answers again.
- R3/R4: recovery notices close the loop, and every alert lands in alerts.jsonl with event + detection timestamps.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the shift: the operator’s phone becomes the NMS screen — alerts and control travel in one chat.
- Walk the 5-minute setup: BotFather issues the token, press START, read the chat id from getUpdates, export the two env vars, run bot.py.
- Highlight that commands do LIVE SNMP polls on demand — /cpu R2-Branch and /ifaces R3-HQ query the agents in real time.
- Point at the bubble pair: a CRITICAL at 10:02:11 and its RESOLVED notice 36 seconds later — the alert loop closes on the phone.
- Close on security: the bot serves the authorized chat only, and the community string never leaves the lab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Lead with the headline: 22 of 22 automated checks pass — every number on this slide is measured, not claimed.
- Contrast the two alert planes: traps reach the operator in 0.4 s, while polling is bounded by the 5 s interval at 1.4–3.9 s.
- Walk one row end-to-end: R2 CPU hits 93% at t=30.0 s, the engine detects it at 33.9 s — a 3.9 s latency.
- Note that recovery is instrumented too: the R2 CPU recovery row shows the loop closing 1.4 s after the event.
- Finish on reproducibility: test_system.py runs the whole evidence chain in 2.5 minutes and can be re-run by the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Set the scene: a scripted 3-minute run that takes the lab from a healthy network to a fully resolved incident.
- Narrate each marker as it fires: six coldStart traps at boot, then CPU escalation 78% → 93% on R2-Branch.
- Emphasize the contrast at 1:20 — the R3 Gi0/0 link-down trap reaches the phone in 0.4 s, faster than any poll cycle.
- Show the loop closing: LINK UP at 2:20 and the RESOLVED notice at 2:45 land on the phone in real time.
- Invite the committee to reproduce it themselves with ./run_demo.sh.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Recap the five deliverables, stressing that SNMPv2c was implemented at protocol level with zero external dependencies.
- Underline the production shape: moving to real hardware only means editing endpoints in one YAML file.
- Cite the key verified result — sub-second trap alerting end-to-end at 0.4 s — plus the interactive Telegram control plane.
- Frame future work as a natural extension: SNMPv3 security, time-series dashboards, hardware migration, and auto-learned anomaly baselines.
- Bridge to the closing slide: the system is finished as a graduation project but architected to keep growing.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committee and open the floor for questions and discussion.
- Repeat the one-line summary if needed: six devices, two alert planes, one phone.
- Point to the project package: full technical report (PDF), the Packet Tracer lab file, and the complete source code.
- Offer a live re-run of the demo or a look at specific code modules if the committee is interested.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734" y="160734"/>
            <a:ext cx="8822531" cy="4822031"/>
          </a:xfrm>
          <a:prstGeom prst="roundRect">
            <a:avLst>
              <a:gd name="adj" fmla="val 1580"/>
            </a:avLst>
          </a:prstGeom>
          <a:noFill/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04447" y="-1067991"/>
            <a:ext cx="3064669" cy="3064669"/>
          </a:xfrm>
          <a:prstGeom prst="ellipse">
            <a:avLst/>
          </a:prstGeom>
          <a:noFill/>
          <a:ln w="7144">
            <a:solidFill>
              <a:srgbClr val="E0F2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710803" y="3718322"/>
            <a:ext cx="2278856" cy="2278856"/>
          </a:xfrm>
          <a:prstGeom prst="ellipse">
            <a:avLst/>
          </a:prstGeom>
          <a:noFill/>
          <a:ln w="7144">
            <a:solidFill>
              <a:srgbClr val="E0F2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763" y="300038"/>
            <a:ext cx="11200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.1.3.6.1.2.1.1.3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27715" y="4718447"/>
            <a:ext cx="8591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UDP 161 · 162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293394" y="825438"/>
            <a:ext cx="557213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42734" y="989744"/>
            <a:ext cx="3258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253" kern="0" dirty="0">
                <a:solidFill>
                  <a:srgbClr val="0891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GRADUATION PROJECT DEFENSE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54063"/>
            <a:ext cx="8595360" cy="1069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645" b="1" spc="-67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Network</a:t>
            </a:r>
            <a:endParaRPr lang="en-US" sz="3645" dirty="0"/>
          </a:p>
          <a:p>
            <a:pPr algn="ctr" indent="0" marL="0">
              <a:lnSpc>
                <a:spcPts val="3900"/>
              </a:lnSpc>
              <a:buNone/>
            </a:pPr>
            <a:r>
              <a:rPr lang="en-US" sz="3645" b="1" spc="-67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 System</a:t>
            </a:r>
            <a:endParaRPr lang="en-US" sz="3645" dirty="0"/>
          </a:p>
        </p:txBody>
      </p:sp>
      <p:sp>
        <p:nvSpPr>
          <p:cNvPr id="10" name="Text 8"/>
          <p:cNvSpPr/>
          <p:nvPr/>
        </p:nvSpPr>
        <p:spPr>
          <a:xfrm>
            <a:off x="1863849" y="2358889"/>
            <a:ext cx="5416302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SNMP-based Network Surveillance with Python &amp; Telegram Alerts</a:t>
            </a:r>
            <a:endParaRPr lang="en-US" sz="1463" dirty="0"/>
          </a:p>
        </p:txBody>
      </p:sp>
      <p:sp>
        <p:nvSpPr>
          <p:cNvPr id="11" name="Text 9"/>
          <p:cNvSpPr/>
          <p:nvPr/>
        </p:nvSpPr>
        <p:spPr>
          <a:xfrm>
            <a:off x="3349079" y="2737507"/>
            <a:ext cx="244584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reactive firefighting to proactive monitoring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3394" y="3066120"/>
            <a:ext cx="557213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32322" y="3530798"/>
            <a:ext cx="6279356" cy="1103709"/>
          </a:xfrm>
          <a:prstGeom prst="roundRect">
            <a:avLst>
              <a:gd name="adj" fmla="val 120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64494" y="3641527"/>
            <a:ext cx="3478727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1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64494" y="3800475"/>
            <a:ext cx="28128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[Student Name]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5572" y="3534370"/>
            <a:ext cx="0" cy="54471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7744" y="3641527"/>
            <a:ext cx="2671763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1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7744" y="3800475"/>
            <a:ext cx="2671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[Supervisor Name]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35894" y="4082653"/>
            <a:ext cx="313610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494" y="4193381"/>
            <a:ext cx="2678906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1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64494" y="4352330"/>
            <a:ext cx="26789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[University — Faculty]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4082653"/>
            <a:ext cx="313610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5572" y="4079081"/>
            <a:ext cx="0" cy="55185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7744" y="4193381"/>
            <a:ext cx="2671763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1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YEAR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7744" y="4352330"/>
            <a:ext cx="26717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2938" y="4766667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 Packet Tracer 8.2 • Python 3 • SNMPv2c • Telegram Bot API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9157"/>
            <a:ext cx="242888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5813" y="34290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1139"/>
            <a:ext cx="8636000" cy="31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will cover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457200" y="1600535"/>
            <a:ext cx="4800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4766"/>
            <a:ext cx="50292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900113" y="1105830"/>
            <a:ext cx="2016720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900113" y="1304069"/>
            <a:ext cx="18584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networks need proactive monitoring</a:t>
            </a:r>
            <a:endParaRPr lang="en-US" sz="759" dirty="0"/>
          </a:p>
        </p:txBody>
      </p:sp>
      <p:sp>
        <p:nvSpPr>
          <p:cNvPr id="9" name="Shape 7"/>
          <p:cNvSpPr/>
          <p:nvPr/>
        </p:nvSpPr>
        <p:spPr>
          <a:xfrm>
            <a:off x="457200" y="2246933"/>
            <a:ext cx="4800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1164"/>
            <a:ext cx="50292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900113" y="1752228"/>
            <a:ext cx="1535172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SNMP fundamentals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900113" y="1950467"/>
            <a:ext cx="14408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network devices speak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893330"/>
            <a:ext cx="4800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7562"/>
            <a:ext cx="50292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81" dirty="0"/>
          </a:p>
        </p:txBody>
      </p:sp>
      <p:sp>
        <p:nvSpPr>
          <p:cNvPr id="15" name="Text 13"/>
          <p:cNvSpPr/>
          <p:nvPr/>
        </p:nvSpPr>
        <p:spPr>
          <a:xfrm>
            <a:off x="900113" y="2398626"/>
            <a:ext cx="2552319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lab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900113" y="2596865"/>
            <a:ext cx="21535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designing a multi-site network in Packet Tracer</a:t>
            </a:r>
            <a:endParaRPr lang="en-US" sz="759" dirty="0"/>
          </a:p>
        </p:txBody>
      </p:sp>
      <p:sp>
        <p:nvSpPr>
          <p:cNvPr id="17" name="Shape 15"/>
          <p:cNvSpPr/>
          <p:nvPr/>
        </p:nvSpPr>
        <p:spPr>
          <a:xfrm>
            <a:off x="457200" y="3539728"/>
            <a:ext cx="4800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3959"/>
            <a:ext cx="50292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81" dirty="0"/>
          </a:p>
        </p:txBody>
      </p:sp>
      <p:sp>
        <p:nvSpPr>
          <p:cNvPr id="19" name="Text 17"/>
          <p:cNvSpPr/>
          <p:nvPr/>
        </p:nvSpPr>
        <p:spPr>
          <a:xfrm>
            <a:off x="900113" y="3045023"/>
            <a:ext cx="1608562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engine</a:t>
            </a:r>
            <a:endParaRPr lang="en-US" sz="1069" dirty="0"/>
          </a:p>
        </p:txBody>
      </p:sp>
      <p:sp>
        <p:nvSpPr>
          <p:cNvPr id="20" name="Text 18"/>
          <p:cNvSpPr/>
          <p:nvPr/>
        </p:nvSpPr>
        <p:spPr>
          <a:xfrm>
            <a:off x="900113" y="3243263"/>
            <a:ext cx="14822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polling, thresholds, traps</a:t>
            </a:r>
            <a:endParaRPr lang="en-US" sz="759" dirty="0"/>
          </a:p>
        </p:txBody>
      </p:sp>
      <p:sp>
        <p:nvSpPr>
          <p:cNvPr id="21" name="Shape 19"/>
          <p:cNvSpPr/>
          <p:nvPr/>
        </p:nvSpPr>
        <p:spPr>
          <a:xfrm>
            <a:off x="457200" y="4186126"/>
            <a:ext cx="4800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50357"/>
            <a:ext cx="50292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181" dirty="0"/>
          </a:p>
        </p:txBody>
      </p:sp>
      <p:sp>
        <p:nvSpPr>
          <p:cNvPr id="23" name="Text 21"/>
          <p:cNvSpPr/>
          <p:nvPr/>
        </p:nvSpPr>
        <p:spPr>
          <a:xfrm>
            <a:off x="900113" y="3691421"/>
            <a:ext cx="1749790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Telegram</a:t>
            </a:r>
            <a:endParaRPr lang="en-US" sz="1069" dirty="0"/>
          </a:p>
        </p:txBody>
      </p:sp>
      <p:sp>
        <p:nvSpPr>
          <p:cNvPr id="24" name="Text 22"/>
          <p:cNvSpPr/>
          <p:nvPr/>
        </p:nvSpPr>
        <p:spPr>
          <a:xfrm>
            <a:off x="900113" y="3889660"/>
            <a:ext cx="1476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alerts and control in your pocket</a:t>
            </a:r>
            <a:endParaRPr lang="en-US" sz="759" dirty="0"/>
          </a:p>
        </p:txBody>
      </p:sp>
      <p:sp>
        <p:nvSpPr>
          <p:cNvPr id="25" name="Text 23"/>
          <p:cNvSpPr/>
          <p:nvPr/>
        </p:nvSpPr>
        <p:spPr>
          <a:xfrm>
            <a:off x="457200" y="4396755"/>
            <a:ext cx="50292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181" dirty="0"/>
          </a:p>
        </p:txBody>
      </p:sp>
      <p:sp>
        <p:nvSpPr>
          <p:cNvPr id="26" name="Text 24"/>
          <p:cNvSpPr/>
          <p:nvPr/>
        </p:nvSpPr>
        <p:spPr>
          <a:xfrm>
            <a:off x="900113" y="4337819"/>
            <a:ext cx="1488862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1069" dirty="0"/>
          </a:p>
        </p:txBody>
      </p:sp>
      <p:sp>
        <p:nvSpPr>
          <p:cNvPr id="27" name="Text 25"/>
          <p:cNvSpPr/>
          <p:nvPr/>
        </p:nvSpPr>
        <p:spPr>
          <a:xfrm>
            <a:off x="900113" y="4536058"/>
            <a:ext cx="13719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results &amp; live demo</a:t>
            </a:r>
            <a:endParaRPr lang="en-US" sz="759" dirty="0"/>
          </a:p>
        </p:txBody>
      </p:sp>
      <p:sp>
        <p:nvSpPr>
          <p:cNvPr id="28" name="Text 26"/>
          <p:cNvSpPr/>
          <p:nvPr/>
        </p:nvSpPr>
        <p:spPr>
          <a:xfrm>
            <a:off x="5489972" y="961281"/>
            <a:ext cx="3193256" cy="1207182"/>
          </a:xfrm>
          <a:prstGeom prst="roundRect">
            <a:avLst>
              <a:gd name="adj" fmla="val 1104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64994" y="1318357"/>
            <a:ext cx="1691640" cy="532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81"/>
              </a:lnSpc>
              <a:buNone/>
            </a:pPr>
            <a:r>
              <a:rPr lang="en-US" sz="2588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588" dirty="0"/>
          </a:p>
        </p:txBody>
      </p:sp>
      <p:sp>
        <p:nvSpPr>
          <p:cNvPr id="30" name="Text 28"/>
          <p:cNvSpPr/>
          <p:nvPr/>
        </p:nvSpPr>
        <p:spPr>
          <a:xfrm>
            <a:off x="6850856" y="1343360"/>
            <a:ext cx="7144" cy="44291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86588" y="1481993"/>
            <a:ext cx="1271588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monitored devices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2469" y="147194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828" dirty="0"/>
          </a:p>
        </p:txBody>
      </p:sp>
      <p:sp>
        <p:nvSpPr>
          <p:cNvPr id="33" name="Text 31"/>
          <p:cNvSpPr/>
          <p:nvPr/>
        </p:nvSpPr>
        <p:spPr>
          <a:xfrm>
            <a:off x="5489972" y="2289907"/>
            <a:ext cx="3193256" cy="1207182"/>
          </a:xfrm>
          <a:prstGeom prst="roundRect">
            <a:avLst>
              <a:gd name="adj" fmla="val 1104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64994" y="2646983"/>
            <a:ext cx="1691640" cy="532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81"/>
              </a:lnSpc>
              <a:buNone/>
            </a:pPr>
            <a:r>
              <a:rPr lang="en-US" sz="2588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588" dirty="0"/>
          </a:p>
        </p:txBody>
      </p:sp>
      <p:sp>
        <p:nvSpPr>
          <p:cNvPr id="35" name="Text 33"/>
          <p:cNvSpPr/>
          <p:nvPr/>
        </p:nvSpPr>
        <p:spPr>
          <a:xfrm>
            <a:off x="6850856" y="2671986"/>
            <a:ext cx="7144" cy="44291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986588" y="2727796"/>
            <a:ext cx="1271588" cy="35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 planes — polling + traps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2469" y="280057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828" dirty="0"/>
          </a:p>
        </p:txBody>
      </p:sp>
      <p:sp>
        <p:nvSpPr>
          <p:cNvPr id="38" name="Text 36"/>
          <p:cNvSpPr/>
          <p:nvPr/>
        </p:nvSpPr>
        <p:spPr>
          <a:xfrm>
            <a:off x="5489972" y="3618533"/>
            <a:ext cx="3193256" cy="1207182"/>
          </a:xfrm>
          <a:prstGeom prst="roundRect">
            <a:avLst>
              <a:gd name="adj" fmla="val 1104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64994" y="3975608"/>
            <a:ext cx="1691640" cy="532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81"/>
              </a:lnSpc>
              <a:buNone/>
            </a:pPr>
            <a:r>
              <a:rPr lang="en-US" sz="2588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22/22</a:t>
            </a:r>
            <a:endParaRPr lang="en-US" sz="2588" dirty="0"/>
          </a:p>
        </p:txBody>
      </p:sp>
      <p:sp>
        <p:nvSpPr>
          <p:cNvPr id="40" name="Text 38"/>
          <p:cNvSpPr/>
          <p:nvPr/>
        </p:nvSpPr>
        <p:spPr>
          <a:xfrm>
            <a:off x="6850856" y="4000612"/>
            <a:ext cx="7144" cy="44291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86588" y="4056422"/>
            <a:ext cx="1509117" cy="35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checks passing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22469" y="412919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9157"/>
            <a:ext cx="242888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5813" y="34290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1139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Networks fail before anyone notices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60772" y="961281"/>
            <a:ext cx="4050506" cy="3146375"/>
          </a:xfrm>
          <a:prstGeom prst="roundRect">
            <a:avLst>
              <a:gd name="adj" fmla="val 4238"/>
            </a:avLst>
          </a:prstGeom>
          <a:solidFill>
            <a:srgbClr val="FEE2E2"/>
          </a:solidFill>
          <a:ln w="7144">
            <a:solidFill>
              <a:srgbClr val="DC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5794" y="1386334"/>
            <a:ext cx="3700463" cy="0"/>
          </a:xfrm>
          <a:prstGeom prst="line">
            <a:avLst/>
          </a:prstGeom>
          <a:noFill/>
          <a:ln w="7144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794" y="1113086"/>
            <a:ext cx="164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17" dirty="0"/>
          </a:p>
        </p:txBody>
      </p:sp>
      <p:sp>
        <p:nvSpPr>
          <p:cNvPr id="8" name="Text 6"/>
          <p:cNvSpPr/>
          <p:nvPr/>
        </p:nvSpPr>
        <p:spPr>
          <a:xfrm>
            <a:off x="871538" y="1093440"/>
            <a:ext cx="346471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Reactive (today)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635794" y="1706910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5976" y="1737092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1" name="Text 9"/>
          <p:cNvSpPr/>
          <p:nvPr/>
        </p:nvSpPr>
        <p:spPr>
          <a:xfrm>
            <a:off x="992981" y="1755465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 are the first outage sensor (helpdesk calls)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794" y="2281089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5976" y="2311271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336" dirty="0"/>
          </a:p>
        </p:txBody>
      </p:sp>
      <p:sp>
        <p:nvSpPr>
          <p:cNvPr id="14" name="Text 12"/>
          <p:cNvSpPr/>
          <p:nvPr/>
        </p:nvSpPr>
        <p:spPr>
          <a:xfrm>
            <a:off x="992981" y="2329644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MTTR grows with device count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794" y="2855268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5976" y="288545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7" name="Text 15"/>
          <p:cNvSpPr/>
          <p:nvPr/>
        </p:nvSpPr>
        <p:spPr>
          <a:xfrm>
            <a:off x="992981" y="2903823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operators hop CLI-to-CLI across 6+ devices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794" y="3429446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5976" y="3459629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20" name="Text 18"/>
          <p:cNvSpPr/>
          <p:nvPr/>
        </p:nvSpPr>
        <p:spPr>
          <a:xfrm>
            <a:off x="992981" y="3478002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history — incidents vanish with the console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32722" y="961281"/>
            <a:ext cx="4050506" cy="3146375"/>
          </a:xfrm>
          <a:prstGeom prst="roundRect">
            <a:avLst>
              <a:gd name="adj" fmla="val 4238"/>
            </a:avLst>
          </a:prstGeom>
          <a:solidFill>
            <a:srgbClr val="D1FAE5"/>
          </a:solidFill>
          <a:ln w="7144">
            <a:solidFill>
              <a:srgbClr val="05966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07744" y="1386334"/>
            <a:ext cx="3700463" cy="0"/>
          </a:xfrm>
          <a:prstGeom prst="line">
            <a:avLst/>
          </a:prstGeom>
          <a:noFill/>
          <a:ln w="7144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7744" y="1113086"/>
            <a:ext cx="164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17" dirty="0"/>
          </a:p>
        </p:txBody>
      </p:sp>
      <p:sp>
        <p:nvSpPr>
          <p:cNvPr id="24" name="Text 22"/>
          <p:cNvSpPr/>
          <p:nvPr/>
        </p:nvSpPr>
        <p:spPr>
          <a:xfrm>
            <a:off x="5043488" y="1093440"/>
            <a:ext cx="346471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(this project)</a:t>
            </a:r>
            <a:endParaRPr lang="en-US" sz="1069" dirty="0"/>
          </a:p>
        </p:txBody>
      </p:sp>
      <p:sp>
        <p:nvSpPr>
          <p:cNvPr id="25" name="Text 23"/>
          <p:cNvSpPr/>
          <p:nvPr/>
        </p:nvSpPr>
        <p:spPr>
          <a:xfrm>
            <a:off x="4807744" y="1706910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7926" y="1737092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336" dirty="0"/>
          </a:p>
        </p:txBody>
      </p:sp>
      <p:sp>
        <p:nvSpPr>
          <p:cNvPr id="27" name="Text 25"/>
          <p:cNvSpPr/>
          <p:nvPr/>
        </p:nvSpPr>
        <p:spPr>
          <a:xfrm>
            <a:off x="5164931" y="1755465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poll CPU / memory / interface status every 15 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7744" y="2281089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7926" y="2311271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0" name="Text 28"/>
          <p:cNvSpPr/>
          <p:nvPr/>
        </p:nvSpPr>
        <p:spPr>
          <a:xfrm>
            <a:off x="5164931" y="2329644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thresholds catch degradation BEFORE outage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7744" y="2855268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37926" y="288545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336" dirty="0"/>
          </a:p>
        </p:txBody>
      </p:sp>
      <p:sp>
        <p:nvSpPr>
          <p:cNvPr id="33" name="Text 31"/>
          <p:cNvSpPr/>
          <p:nvPr/>
        </p:nvSpPr>
        <p:spPr>
          <a:xfrm>
            <a:off x="5164931" y="2903823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 failures reported by traps in under a second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7744" y="3429446"/>
            <a:ext cx="257175" cy="257175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37926" y="3459629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6" name="Text 34"/>
          <p:cNvSpPr/>
          <p:nvPr/>
        </p:nvSpPr>
        <p:spPr>
          <a:xfrm>
            <a:off x="5164931" y="3478002"/>
            <a:ext cx="334327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alert timestamped and archived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0772" y="4229100"/>
            <a:ext cx="8222456" cy="62507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794" y="4355009"/>
            <a:ext cx="186574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FCAPS management model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28404" y="4369296"/>
            <a:ext cx="7144" cy="1428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335560" y="4319883"/>
            <a:ext cx="587573" cy="241702"/>
          </a:xfrm>
          <a:prstGeom prst="roundRect">
            <a:avLst>
              <a:gd name="adj" fmla="val 3936862"/>
            </a:avLst>
          </a:prstGeom>
          <a:solidFill>
            <a:srgbClr val="155E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85591" y="4382691"/>
            <a:ext cx="373261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Fault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42716" y="439072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3" name="Text 41"/>
          <p:cNvSpPr/>
          <p:nvPr/>
        </p:nvSpPr>
        <p:spPr>
          <a:xfrm>
            <a:off x="2994571" y="4319883"/>
            <a:ext cx="860710" cy="241702"/>
          </a:xfrm>
          <a:prstGeom prst="roundRect">
            <a:avLst>
              <a:gd name="adj" fmla="val 393686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994571" y="4332684"/>
            <a:ext cx="86071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26718" y="4319883"/>
            <a:ext cx="759023" cy="241702"/>
          </a:xfrm>
          <a:prstGeom prst="roundRect">
            <a:avLst>
              <a:gd name="adj" fmla="val 393686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926718" y="4332684"/>
            <a:ext cx="759023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7179" y="4319883"/>
            <a:ext cx="946882" cy="241702"/>
          </a:xfrm>
          <a:prstGeom prst="roundRect">
            <a:avLst>
              <a:gd name="adj" fmla="val 3936862"/>
            </a:avLst>
          </a:prstGeom>
          <a:solidFill>
            <a:srgbClr val="155E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006841" y="4382691"/>
            <a:ext cx="733308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64336" y="439072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0" name="Text 48"/>
          <p:cNvSpPr/>
          <p:nvPr/>
        </p:nvSpPr>
        <p:spPr>
          <a:xfrm>
            <a:off x="5775499" y="4319883"/>
            <a:ext cx="577081" cy="241702"/>
          </a:xfrm>
          <a:prstGeom prst="roundRect">
            <a:avLst>
              <a:gd name="adj" fmla="val 3936862"/>
            </a:avLst>
          </a:prstGeom>
          <a:noFill/>
          <a:ln w="7144">
            <a:solidFill>
              <a:srgbClr val="94A3B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75499" y="4332684"/>
            <a:ext cx="57708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5794" y="4620220"/>
            <a:ext cx="787241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i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project owns the </a:t>
            </a:r>
            <a:pPr algn="l" indent="0" marL="0">
              <a:lnSpc>
                <a:spcPts val="1139"/>
              </a:lnSpc>
              <a:buNone/>
            </a:pPr>
            <a:r>
              <a:rPr lang="en-US" sz="800" b="1" i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Fault</a:t>
            </a:r>
            <a:pPr algn="l" indent="0" marL="0">
              <a:lnSpc>
                <a:spcPts val="1139"/>
              </a:lnSpc>
              <a:buNone/>
            </a:pPr>
            <a:r>
              <a:rPr lang="en-US" sz="800" i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139"/>
              </a:lnSpc>
              <a:buNone/>
            </a:pPr>
            <a:r>
              <a:rPr lang="en-US" sz="800" b="1" i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pPr algn="l" indent="0" marL="0">
              <a:lnSpc>
                <a:spcPts val="1139"/>
              </a:lnSpc>
              <a:buNone/>
            </a:pPr>
            <a:r>
              <a:rPr lang="en-US" sz="800" i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planes end-to-end.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9157"/>
            <a:ext cx="242888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5813" y="34290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1139"/>
            <a:ext cx="8636000" cy="31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measurable goals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60772" y="961281"/>
            <a:ext cx="2659819" cy="1885727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110442"/>
            <a:ext cx="263314" cy="216027"/>
          </a:xfrm>
          <a:prstGeom prst="roundRect">
            <a:avLst>
              <a:gd name="adj" fmla="val 3527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122015"/>
            <a:ext cx="2633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0545" y="1107728"/>
            <a:ext cx="1989311" cy="35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a documented multi-site lab in Packet Tracer 8.2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621506" y="24183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10" name="Text 8"/>
          <p:cNvSpPr/>
          <p:nvPr/>
        </p:nvSpPr>
        <p:spPr>
          <a:xfrm>
            <a:off x="800100" y="2411239"/>
            <a:ext cx="2159757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OSPF triangle, VLAN segmentation, SNMP on all 6 routers/switches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42035" y="961281"/>
            <a:ext cx="2659819" cy="1885727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02769" y="1110442"/>
            <a:ext cx="263314" cy="216027"/>
          </a:xfrm>
          <a:prstGeom prst="roundRect">
            <a:avLst>
              <a:gd name="adj" fmla="val 3527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02769" y="1122015"/>
            <a:ext cx="2633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51808" y="1107728"/>
            <a:ext cx="1989311" cy="35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Implement SNMPv2c at protocol level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3402769" y="24183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16" name="Text 14"/>
          <p:cNvSpPr/>
          <p:nvPr/>
        </p:nvSpPr>
        <p:spPr>
          <a:xfrm>
            <a:off x="3581363" y="2411239"/>
            <a:ext cx="2159757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BER/ASN.1 codec, GET, GETNEXT and trap PDUs with zero external libraries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23297" y="961281"/>
            <a:ext cx="2659931" cy="1885727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4032" y="1110442"/>
            <a:ext cx="263314" cy="216027"/>
          </a:xfrm>
          <a:prstGeom prst="roundRect">
            <a:avLst>
              <a:gd name="adj" fmla="val 3527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84032" y="1122015"/>
            <a:ext cx="2633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33071" y="1107728"/>
            <a:ext cx="1989423" cy="35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Threshold engine as a state machine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6184032" y="24183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2" name="Text 20"/>
          <p:cNvSpPr/>
          <p:nvPr/>
        </p:nvSpPr>
        <p:spPr>
          <a:xfrm>
            <a:off x="6362626" y="2411239"/>
            <a:ext cx="215986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 70/85%, memory 75/90%, alerts on transitions only, recovery notices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772" y="2968451"/>
            <a:ext cx="4050506" cy="1885727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506" y="3117613"/>
            <a:ext cx="263314" cy="216027"/>
          </a:xfrm>
          <a:prstGeom prst="roundRect">
            <a:avLst>
              <a:gd name="adj" fmla="val 3527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1506" y="3129186"/>
            <a:ext cx="2633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70545" y="3114898"/>
            <a:ext cx="3379998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Telegram alarm channel</a:t>
            </a:r>
            <a:endParaRPr lang="en-US" sz="984" dirty="0"/>
          </a:p>
        </p:txBody>
      </p:sp>
      <p:sp>
        <p:nvSpPr>
          <p:cNvPr id="27" name="Text 25"/>
          <p:cNvSpPr/>
          <p:nvPr/>
        </p:nvSpPr>
        <p:spPr>
          <a:xfrm>
            <a:off x="621506" y="4411266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8" name="Text 26"/>
          <p:cNvSpPr/>
          <p:nvPr/>
        </p:nvSpPr>
        <p:spPr>
          <a:xfrm>
            <a:off x="800100" y="4404122"/>
            <a:ext cx="3550444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alerts + interactive commands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/status, /cpu, /ifaces, /alerts, /mute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32722" y="2968451"/>
            <a:ext cx="4050506" cy="1885727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3456" y="3117613"/>
            <a:ext cx="263314" cy="216027"/>
          </a:xfrm>
          <a:prstGeom prst="roundRect">
            <a:avLst>
              <a:gd name="adj" fmla="val 3527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93456" y="3129186"/>
            <a:ext cx="2633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2495" y="3114898"/>
            <a:ext cx="3379998" cy="17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Prove it works</a:t>
            </a:r>
            <a:endParaRPr lang="en-US" sz="984" dirty="0"/>
          </a:p>
        </p:txBody>
      </p:sp>
      <p:sp>
        <p:nvSpPr>
          <p:cNvPr id="33" name="Text 31"/>
          <p:cNvSpPr/>
          <p:nvPr/>
        </p:nvSpPr>
        <p:spPr>
          <a:xfrm>
            <a:off x="4793456" y="457021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34" name="Text 32"/>
          <p:cNvSpPr/>
          <p:nvPr/>
        </p:nvSpPr>
        <p:spPr>
          <a:xfrm>
            <a:off x="4972050" y="4563070"/>
            <a:ext cx="3550444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 automated end-to-end checks + measured detection latencies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007"/>
            <a:ext cx="242888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5813" y="28575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FUNDAMENTALS 1/2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3989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SNMP — a manager, an agent, two UDP ports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871216" y="828005"/>
            <a:ext cx="5401568" cy="3479006"/>
          </a:xfrm>
          <a:prstGeom prst="roundRect">
            <a:avLst>
              <a:gd name="adj" fmla="val 38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z/my-project/download/network-monitoring-graduation-project/documentation/figures/fig_snmp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088" y="917302"/>
            <a:ext cx="5165824" cy="33004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1736" y="4380905"/>
            <a:ext cx="2643076" cy="321469"/>
          </a:xfrm>
          <a:prstGeom prst="roundRect">
            <a:avLst>
              <a:gd name="adj" fmla="val 4148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89608" y="44702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9" name="Text 6"/>
          <p:cNvSpPr/>
          <p:nvPr/>
        </p:nvSpPr>
        <p:spPr>
          <a:xfrm>
            <a:off x="1003920" y="4455914"/>
            <a:ext cx="23027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GET / GETNEXT → UDP 161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the polling plane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36255" y="4380905"/>
            <a:ext cx="2442158" cy="321469"/>
          </a:xfrm>
          <a:prstGeom prst="roundRect">
            <a:avLst>
              <a:gd name="adj" fmla="val 4148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54127" y="44702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12" name="Text 9"/>
          <p:cNvSpPr/>
          <p:nvPr/>
        </p:nvSpPr>
        <p:spPr>
          <a:xfrm>
            <a:off x="3768440" y="4455914"/>
            <a:ext cx="21018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Trap → UDP 162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the asynchronous plane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99857" y="4380905"/>
            <a:ext cx="2472407" cy="321469"/>
          </a:xfrm>
          <a:prstGeom prst="roundRect">
            <a:avLst>
              <a:gd name="adj" fmla="val 4148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17729" y="44702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6332041" y="4455914"/>
            <a:ext cx="21320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string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the v2c authentication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777383"/>
            <a:ext cx="822960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message is version + community + PDU, BER-encoded per RFC 3416 — we implement this format ourselves in </a:t>
            </a:r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snmp_lite.py</a:t>
            </a:r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9157"/>
            <a:ext cx="242888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5813" y="34290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FUNDAMENTALS 2/2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1139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Everything is a number in a tree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60772" y="961281"/>
            <a:ext cx="4346525" cy="3498205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1129159"/>
            <a:ext cx="2663449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MIB — managed information base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635794" y="1134517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477" dirty="0"/>
          </a:p>
        </p:txBody>
      </p:sp>
      <p:sp>
        <p:nvSpPr>
          <p:cNvPr id="8" name="Text 6"/>
          <p:cNvSpPr/>
          <p:nvPr/>
        </p:nvSpPr>
        <p:spPr>
          <a:xfrm>
            <a:off x="635794" y="1400407"/>
            <a:ext cx="478408" cy="204026"/>
          </a:xfrm>
          <a:prstGeom prst="roundRect">
            <a:avLst>
              <a:gd name="adj" fmla="val 3268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794" y="1411337"/>
            <a:ext cx="47840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iso(1)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1352" y="142741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8514" y="1400407"/>
            <a:ext cx="478408" cy="204026"/>
          </a:xfrm>
          <a:prstGeom prst="roundRect">
            <a:avLst>
              <a:gd name="adj" fmla="val 3268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28514" y="1411337"/>
            <a:ext cx="47840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org(3)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64072" y="142741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21235" y="1400407"/>
            <a:ext cx="478408" cy="204026"/>
          </a:xfrm>
          <a:prstGeom prst="roundRect">
            <a:avLst>
              <a:gd name="adj" fmla="val 3268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21235" y="1411337"/>
            <a:ext cx="47840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dod(6)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56793" y="142741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13955" y="1400407"/>
            <a:ext cx="757907" cy="204026"/>
          </a:xfrm>
          <a:prstGeom prst="roundRect">
            <a:avLst>
              <a:gd name="adj" fmla="val 3268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13955" y="1411337"/>
            <a:ext cx="75790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internet(1)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794" y="2278856"/>
            <a:ext cx="19270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6508" y="2278856"/>
            <a:ext cx="77494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mgmt(2.1)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794" y="2483793"/>
            <a:ext cx="51668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7387" y="2483793"/>
            <a:ext cx="77494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sysUpTime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02545" y="2483793"/>
            <a:ext cx="128132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.1.3.6.1.2.1.1.3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794" y="2688729"/>
            <a:ext cx="51668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7387" y="2688729"/>
            <a:ext cx="903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ifOperStatus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02657" y="2688729"/>
            <a:ext cx="160169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.1.3.6.1.2.1.2.2.1.8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794" y="2893665"/>
            <a:ext cx="51668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7387" y="2893665"/>
            <a:ext cx="75274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ifInOctets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02657" y="2893665"/>
            <a:ext cx="168185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.1.3.6.1.2.1.2.2.1.10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5794" y="3098602"/>
            <a:ext cx="19270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6508" y="3098602"/>
            <a:ext cx="903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private(4.1)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99419" y="3098602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19969" y="3098602"/>
            <a:ext cx="105384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enterprises(9)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23319" y="3098602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870" y="3098602"/>
            <a:ext cx="68891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cisco(9)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5794" y="3303538"/>
            <a:ext cx="57810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7387" y="3303538"/>
            <a:ext cx="135480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cpmCPUTotal5minRev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02545" y="3303538"/>
            <a:ext cx="19509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.1.3.6.1.4.1.9.9.109.1.1.1.1.8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794" y="3508474"/>
            <a:ext cx="57810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7387" y="3508474"/>
            <a:ext cx="143014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ciscoMemoryPoolUsed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02657" y="3508474"/>
            <a:ext cx="175582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.1.3.6.1.4.1.9.9.48.1.1.1.5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28741" y="961281"/>
            <a:ext cx="3754487" cy="3498205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325219" y="1129159"/>
            <a:ext cx="1263411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Polling vs traps</a:t>
            </a:r>
            <a:endParaRPr lang="en-US" sz="1069" dirty="0"/>
          </a:p>
        </p:txBody>
      </p:sp>
      <p:sp>
        <p:nvSpPr>
          <p:cNvPr id="44" name="Text 42"/>
          <p:cNvSpPr/>
          <p:nvPr/>
        </p:nvSpPr>
        <p:spPr>
          <a:xfrm>
            <a:off x="5103763" y="1134517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77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03763" y="2066888"/>
          <a:ext cx="3404443" cy="914400"/>
        </p:xfrm>
        <a:graphic>
          <a:graphicData uri="http://schemas.openxmlformats.org/drawingml/2006/table">
            <a:tbl>
              <a:tblPr/>
              <a:tblGrid>
                <a:gridCol w="783022"/>
                <a:gridCol w="748978"/>
                <a:gridCol w="1055377"/>
                <a:gridCol w="81706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4114800" marT="0" marB="514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Direction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4114800" marT="0" marB="514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Latency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4114800" marT="0" marB="514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Best for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4114800" marT="0" marB="514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↻Polling GET every 15 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manager→agent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≤ interval + 1.4 s (measured)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trends &amp; thresholds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⚡Traps UDP push on event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agent→manager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0.4 s (measured)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link down, cold start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4114800" marT="0" marB="82296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" name="Shape 43"/>
          <p:cNvSpPr/>
          <p:nvPr/>
        </p:nvSpPr>
        <p:spPr>
          <a:xfrm>
            <a:off x="457200" y="4580930"/>
            <a:ext cx="8229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40384" y="468540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828" dirty="0"/>
          </a:p>
        </p:txBody>
      </p:sp>
      <p:sp>
        <p:nvSpPr>
          <p:cNvPr id="48" name="Text 45"/>
          <p:cNvSpPr/>
          <p:nvPr/>
        </p:nvSpPr>
        <p:spPr>
          <a:xfrm>
            <a:off x="2811847" y="4684514"/>
            <a:ext cx="587495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984" i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metric is just a numbered leaf — the poller only needs the number.</a:t>
            </a:r>
            <a:endParaRPr lang="en-US" sz="9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SIMULATION ENVIRONMENT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19708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Packet Tracer — and where its boundary is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625" y="848320"/>
          <a:ext cx="8286750" cy="914400"/>
        </p:xfrm>
        <a:graphic>
          <a:graphicData uri="http://schemas.openxmlformats.org/drawingml/2006/table">
            <a:tbl>
              <a:tblPr/>
              <a:tblGrid>
                <a:gridCol w="1985293"/>
                <a:gridCol w="2978051"/>
                <a:gridCol w="330911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Criterion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7156" marR="185738" marT="185738" marB="10715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GNS3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7156" marR="185738" marT="185738" marB="10715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Packet Tracer 8.2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7156" marR="185738" marT="185738" marB="10715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Technology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Emulation of real IOS images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Behavior-level simulation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Licensing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Requires Cisco IOS images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Free via Networking Academy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Footprint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RAM-heavy for multi-router labs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Lightweight, student-friendly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SNMP from an external Python process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✓Natively reachable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⊗Simulated stack, NOT externally reachable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019" marR="185738" marT="185738" marB="15001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28625" y="3399532"/>
            <a:ext cx="8286750" cy="62865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28625" y="3403104"/>
            <a:ext cx="8286750" cy="0"/>
          </a:xfrm>
          <a:prstGeom prst="line">
            <a:avLst/>
          </a:prstGeom>
          <a:noFill/>
          <a:ln w="7144">
            <a:solidFill>
              <a:srgbClr val="05966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11803" y="3399532"/>
            <a:ext cx="0" cy="628650"/>
          </a:xfrm>
          <a:prstGeom prst="line">
            <a:avLst/>
          </a:prstGeom>
          <a:noFill/>
          <a:ln w="7144">
            <a:solidFill>
              <a:srgbClr val="0596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4024610"/>
            <a:ext cx="8286750" cy="0"/>
          </a:xfrm>
          <a:prstGeom prst="line">
            <a:avLst/>
          </a:prstGeom>
          <a:noFill/>
          <a:ln w="7144">
            <a:solidFill>
              <a:srgbClr val="05966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2913" y="3399532"/>
            <a:ext cx="0" cy="62865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8650" y="355669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11" name="Text 8"/>
          <p:cNvSpPr/>
          <p:nvPr/>
        </p:nvSpPr>
        <p:spPr>
          <a:xfrm>
            <a:off x="928688" y="3542407"/>
            <a:ext cx="7608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Decision: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PT for the network design plane + protocol-faithful SNMP agents as the live data plane (same Cisco OIDs, same community, same trap host). The monitoring code is production-shaped — only the endpoints in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config.yaml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change for real hardware.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428625" y="4698802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95" dirty="0"/>
          </a:p>
        </p:txBody>
      </p:sp>
      <p:sp>
        <p:nvSpPr>
          <p:cNvPr id="13" name="Text 10"/>
          <p:cNvSpPr/>
          <p:nvPr/>
        </p:nvSpPr>
        <p:spPr>
          <a:xfrm>
            <a:off x="614363" y="4689872"/>
            <a:ext cx="8101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.pkt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lab is the design twin of the agents: identical devices, addressing and SNMP policy.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63600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NETWORK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76845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file, twelve devices, full redundancy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3622" y="766167"/>
            <a:ext cx="4750594" cy="4030861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download/network-monitoring-graduation-project/documentation/figures/fig_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19" y="1039416"/>
            <a:ext cx="4572000" cy="3286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2919" y="4389834"/>
            <a:ext cx="43211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Smart_Network_Monitoring_Lab.pkt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opens directly in Packet Tracer 8.2, all devices pre-configured.</a:t>
            </a:r>
            <a:endParaRPr lang="en-US" sz="703" dirty="0"/>
          </a:p>
        </p:txBody>
      </p:sp>
      <p:sp>
        <p:nvSpPr>
          <p:cNvPr id="7" name="Text 4"/>
          <p:cNvSpPr/>
          <p:nvPr/>
        </p:nvSpPr>
        <p:spPr>
          <a:xfrm>
            <a:off x="5332809" y="766167"/>
            <a:ext cx="3407569" cy="1272146"/>
          </a:xfrm>
          <a:prstGeom prst="roundRect">
            <a:avLst>
              <a:gd name="adj" fmla="val 10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79256" y="1252165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10153" y="1283062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10" name="Text 7"/>
          <p:cNvSpPr/>
          <p:nvPr/>
        </p:nvSpPr>
        <p:spPr>
          <a:xfrm>
            <a:off x="5886450" y="1158292"/>
            <a:ext cx="2817209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OSPF area 0 triangle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R1–R2–R3</a:t>
            </a:r>
            <a:endParaRPr lang="en-US" sz="928" dirty="0"/>
          </a:p>
        </p:txBody>
      </p:sp>
      <p:sp>
        <p:nvSpPr>
          <p:cNvPr id="11" name="Text 8"/>
          <p:cNvSpPr/>
          <p:nvPr/>
        </p:nvSpPr>
        <p:spPr>
          <a:xfrm>
            <a:off x="5886450" y="1347155"/>
            <a:ext cx="2707481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single link failure isolates a site (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paths survive any one cut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32809" y="2145469"/>
            <a:ext cx="3407569" cy="1272146"/>
          </a:xfrm>
          <a:prstGeom prst="roundRect">
            <a:avLst>
              <a:gd name="adj" fmla="val 10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79256" y="2631467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10153" y="2662364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617" dirty="0"/>
          </a:p>
        </p:txBody>
      </p:sp>
      <p:sp>
        <p:nvSpPr>
          <p:cNvPr id="15" name="Text 12"/>
          <p:cNvSpPr/>
          <p:nvPr/>
        </p:nvSpPr>
        <p:spPr>
          <a:xfrm>
            <a:off x="5886450" y="2537594"/>
            <a:ext cx="2817209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Router-on-a-stick on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R3-HQ</a:t>
            </a:r>
            <a:endParaRPr lang="en-US" sz="928" dirty="0"/>
          </a:p>
        </p:txBody>
      </p:sp>
      <p:sp>
        <p:nvSpPr>
          <p:cNvPr id="16" name="Text 13"/>
          <p:cNvSpPr/>
          <p:nvPr/>
        </p:nvSpPr>
        <p:spPr>
          <a:xfrm>
            <a:off x="5886450" y="2726457"/>
            <a:ext cx="2707481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VLAN 10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users /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VLAN 20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management segmentation on one physical trunk.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332809" y="3524771"/>
            <a:ext cx="3407569" cy="1272146"/>
          </a:xfrm>
          <a:prstGeom prst="roundRect">
            <a:avLst>
              <a:gd name="adj" fmla="val 10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79256" y="4010769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10153" y="4041666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17" dirty="0"/>
          </a:p>
        </p:txBody>
      </p:sp>
      <p:sp>
        <p:nvSpPr>
          <p:cNvPr id="20" name="Text 17"/>
          <p:cNvSpPr/>
          <p:nvPr/>
        </p:nvSpPr>
        <p:spPr>
          <a:xfrm>
            <a:off x="5886450" y="3916896"/>
            <a:ext cx="2707481" cy="1614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Services plane</a:t>
            </a:r>
            <a:endParaRPr lang="en-US" sz="928" dirty="0"/>
          </a:p>
        </p:txBody>
      </p:sp>
      <p:sp>
        <p:nvSpPr>
          <p:cNvPr id="21" name="Text 18"/>
          <p:cNvSpPr/>
          <p:nvPr/>
        </p:nvSpPr>
        <p:spPr>
          <a:xfrm>
            <a:off x="5886450" y="4105759"/>
            <a:ext cx="2707481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SVR-MGMT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syslog + NTP (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192.168.20.50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);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NMS-PC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trap destination + poller (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192.168.20.100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1475"/>
            <a:ext cx="863600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NETWORK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0542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Addressing plan — documented, hierarchical, testable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625" y="819745"/>
          <a:ext cx="8286750" cy="914400"/>
        </p:xfrm>
        <a:graphic>
          <a:graphicData uri="http://schemas.openxmlformats.org/drawingml/2006/table">
            <a:tbl>
              <a:tblPr/>
              <a:tblGrid>
                <a:gridCol w="1654448"/>
                <a:gridCol w="578979"/>
                <a:gridCol w="1571737"/>
                <a:gridCol w="1613036"/>
                <a:gridCol w="285426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Segment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42875" marT="142875" marB="9286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VLAN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42875" marT="142875" marB="9286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Subnet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42875" marT="142875" marB="9286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Gateway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42875" marT="142875" marB="9286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Members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42875" marT="142875" marB="9286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WAN R1↔R4-ISP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203.0.113.0/30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 .1, R4 .2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Core R1↔R2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10.0.12.0/30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 .1, R2 .2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Core R1↔R3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10.0.13.0/30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 .1, R3 .2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Core R2↔R3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10.0.23.0/30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R2 .1, R3 .2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Branch LAN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192.168.30.0/24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R2 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PC1 .10, PC2 .11, SW-Branch .5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HQ users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192.168.10.0/24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R3 Gi0/0.10 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User1 .10, User2 .11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HQ management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192.168.20.0/24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R3 Gi0/0.20 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SVR-MGMT .50, NMS-PC .100, SW-HQ .5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Loopbacks (OSPF router-ids):R1 1.1.1.1·R2 2.2.2.2·R3 3.3.3.3·R4 8.8.8.8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42875" marT="142875" marB="92869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28625" y="4575572"/>
            <a:ext cx="2917999" cy="253603"/>
          </a:xfrm>
          <a:prstGeom prst="roundRect">
            <a:avLst>
              <a:gd name="adj" fmla="val 375211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4645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707231" y="4632722"/>
            <a:ext cx="252509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/30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point-to-point links — 50% address efficiency per link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3446636" y="4575572"/>
            <a:ext cx="3438711" cy="253603"/>
          </a:xfrm>
          <a:prstGeom prst="roundRect">
            <a:avLst>
              <a:gd name="adj" fmla="val 375211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560936" y="4645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3725242" y="4632722"/>
            <a:ext cx="304580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Loopbacks give OSPF stable router-ids independent of physical interfaces</a:t>
            </a:r>
            <a:endParaRPr lang="en-US" sz="73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338" y="371475"/>
            <a:ext cx="17977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IMPLEMENTATION 1/3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775222" y="41344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60947" y="41344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46672" y="41344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4338" y="50542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lines that turn a router into a data 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4338" y="805458"/>
            <a:ext cx="4857750" cy="3995142"/>
          </a:xfrm>
          <a:prstGeom prst="roundRect">
            <a:avLst>
              <a:gd name="adj" fmla="val 2861"/>
            </a:avLst>
          </a:prstGeom>
          <a:solidFill>
            <a:srgbClr val="0F2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4338" y="805458"/>
            <a:ext cx="4857750" cy="328613"/>
          </a:xfrm>
          <a:prstGeom prst="rect">
            <a:avLst/>
          </a:prstGeom>
          <a:solidFill>
            <a:srgbClr val="F8FAFC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14338" y="1130498"/>
            <a:ext cx="4857750" cy="0"/>
          </a:xfrm>
          <a:prstGeom prst="line">
            <a:avLst/>
          </a:prstGeom>
          <a:noFill/>
          <a:ln w="7144">
            <a:solidFill>
              <a:srgbClr val="E2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213" y="92690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2944" y="92690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8675" y="92690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5844" y="901898"/>
            <a:ext cx="40933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E2F2F8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 IOS · global configuration mode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5778" y="1645407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106" y="1616832"/>
            <a:ext cx="4236244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community 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FEF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MonNet-RO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</a:t>
            </a:r>
            <a:endParaRPr lang="en-US" sz="928" dirty="0"/>
          </a:p>
        </p:txBody>
      </p:sp>
      <p:sp>
        <p:nvSpPr>
          <p:cNvPr id="16" name="Text 14"/>
          <p:cNvSpPr/>
          <p:nvPr/>
        </p:nvSpPr>
        <p:spPr>
          <a:xfrm>
            <a:off x="505778" y="2269257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106" y="2240682"/>
            <a:ext cx="4236244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location CORE-POP Damascus</a:t>
            </a:r>
            <a:endParaRPr lang="en-US" sz="928" dirty="0"/>
          </a:p>
        </p:txBody>
      </p:sp>
      <p:sp>
        <p:nvSpPr>
          <p:cNvPr id="18" name="Text 16"/>
          <p:cNvSpPr/>
          <p:nvPr/>
        </p:nvSpPr>
        <p:spPr>
          <a:xfrm>
            <a:off x="505778" y="2893107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106" y="2864532"/>
            <a:ext cx="4236244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 netmon@monnet.lab</a:t>
            </a:r>
            <a:endParaRPr lang="en-US" sz="928" dirty="0"/>
          </a:p>
        </p:txBody>
      </p:sp>
      <p:sp>
        <p:nvSpPr>
          <p:cNvPr id="20" name="Text 18"/>
          <p:cNvSpPr/>
          <p:nvPr/>
        </p:nvSpPr>
        <p:spPr>
          <a:xfrm>
            <a:off x="505778" y="3516957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106" y="3488382"/>
            <a:ext cx="4236244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host 192.168.20.100 version 2c 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FEF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MonNet-RO</a:t>
            </a:r>
            <a:endParaRPr lang="en-US" sz="928" dirty="0"/>
          </a:p>
        </p:txBody>
      </p:sp>
      <p:sp>
        <p:nvSpPr>
          <p:cNvPr id="22" name="Text 20"/>
          <p:cNvSpPr/>
          <p:nvPr/>
        </p:nvSpPr>
        <p:spPr>
          <a:xfrm>
            <a:off x="505778" y="4140808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106" y="4112233"/>
            <a:ext cx="4236244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enable traps snmp link linkdown linkup config</a:t>
            </a:r>
            <a:endParaRPr lang="en-US" sz="928" dirty="0"/>
          </a:p>
        </p:txBody>
      </p:sp>
      <p:sp>
        <p:nvSpPr>
          <p:cNvPr id="24" name="Shape 22"/>
          <p:cNvSpPr/>
          <p:nvPr/>
        </p:nvSpPr>
        <p:spPr>
          <a:xfrm>
            <a:off x="5457825" y="1466924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2113" y="912614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72113" y="912614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00725" y="898327"/>
            <a:ext cx="291465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MonNet-RO RO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00725" y="1071563"/>
            <a:ext cx="2914650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Read-only access; a RW community would expose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(config change) — deliberately avoided.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57825" y="2410569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2113" y="1856259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72113" y="1856259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00725" y="1841971"/>
            <a:ext cx="291465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/ contact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00725" y="2015207"/>
            <a:ext cx="2914650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Appear as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sysLocation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sysContact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OIDs, proving the agent identity.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57825" y="3204753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72113" y="2799904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72113" y="2799904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00725" y="2785616"/>
            <a:ext cx="2342422" cy="14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host 192.168.20.100 version 2c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00725" y="2958852"/>
            <a:ext cx="2342422" cy="1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NMS receives traps with the same community.</a:t>
            </a:r>
            <a:endParaRPr lang="en-US" sz="759" dirty="0"/>
          </a:p>
        </p:txBody>
      </p:sp>
      <p:sp>
        <p:nvSpPr>
          <p:cNvPr id="39" name="Shape 37"/>
          <p:cNvSpPr/>
          <p:nvPr/>
        </p:nvSpPr>
        <p:spPr>
          <a:xfrm>
            <a:off x="5457825" y="3998937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72113" y="3594088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72113" y="3594088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00725" y="3579800"/>
            <a:ext cx="2164489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traps snmp link…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00725" y="3753036"/>
            <a:ext cx="2061418" cy="1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 state + config events generate notifications.</a:t>
            </a:r>
            <a:endParaRPr lang="en-US" sz="759" dirty="0"/>
          </a:p>
        </p:txBody>
      </p:sp>
      <p:sp>
        <p:nvSpPr>
          <p:cNvPr id="44" name="Text 42"/>
          <p:cNvSpPr/>
          <p:nvPr/>
        </p:nvSpPr>
        <p:spPr>
          <a:xfrm>
            <a:off x="5472113" y="4388272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98366" y="4414525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46" name="Text 44"/>
          <p:cNvSpPr/>
          <p:nvPr/>
        </p:nvSpPr>
        <p:spPr>
          <a:xfrm>
            <a:off x="5800725" y="4373984"/>
            <a:ext cx="1936648" cy="15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Applied on all 4 routers + 2 switches</a:t>
            </a:r>
            <a:endParaRPr lang="en-US" sz="816" dirty="0"/>
          </a:p>
        </p:txBody>
      </p:sp>
      <p:sp>
        <p:nvSpPr>
          <p:cNvPr id="47" name="Text 45"/>
          <p:cNvSpPr/>
          <p:nvPr/>
        </p:nvSpPr>
        <p:spPr>
          <a:xfrm>
            <a:off x="5800725" y="4557936"/>
            <a:ext cx="1936648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Visible in IOS via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snmp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17977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IMPLEMENTATION 2/3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760934" y="384870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46659" y="384870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32384" y="384870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476845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planes, one Python codebase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3622" y="766167"/>
            <a:ext cx="5527811" cy="3770114"/>
          </a:xfrm>
          <a:prstGeom prst="roundRect">
            <a:avLst>
              <a:gd name="adj" fmla="val 353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home/z/my-project/download/network-monitoring-graduation-project/documentation/figures/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19" y="979587"/>
            <a:ext cx="5349218" cy="33432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10027" y="766167"/>
            <a:ext cx="2630351" cy="1180505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219326" y="1047710"/>
            <a:ext cx="1139830" cy="247059"/>
          </a:xfrm>
          <a:prstGeom prst="roundRect">
            <a:avLst>
              <a:gd name="adj" fmla="val 385149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91528" y="1110518"/>
            <a:ext cx="76687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snmp_lite.py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342199" y="111051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13" name="Text 10"/>
          <p:cNvSpPr/>
          <p:nvPr/>
        </p:nvSpPr>
        <p:spPr>
          <a:xfrm>
            <a:off x="6242186" y="1353406"/>
            <a:ext cx="2366032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SNMPv2c implemented from the RFC: BER codec, GET / GETNEXT, trap PDUs —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stdlib only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10027" y="2060972"/>
            <a:ext cx="2630351" cy="1180505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19326" y="2342515"/>
            <a:ext cx="1139830" cy="247059"/>
          </a:xfrm>
          <a:prstGeom prst="roundRect">
            <a:avLst>
              <a:gd name="adj" fmla="val 385149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91528" y="2405323"/>
            <a:ext cx="76687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agent_sim.py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42199" y="240532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195" dirty="0"/>
          </a:p>
        </p:txBody>
      </p:sp>
      <p:sp>
        <p:nvSpPr>
          <p:cNvPr id="18" name="Text 15"/>
          <p:cNvSpPr/>
          <p:nvPr/>
        </p:nvSpPr>
        <p:spPr>
          <a:xfrm>
            <a:off x="6242186" y="2648210"/>
            <a:ext cx="2366032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Cisco-compatible agents: live cpu / memory / ifTable, trap emitter,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scripted incidents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10027" y="3355777"/>
            <a:ext cx="2630351" cy="1180505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19326" y="3637320"/>
            <a:ext cx="1019391" cy="247059"/>
          </a:xfrm>
          <a:prstGeom prst="roundRect">
            <a:avLst>
              <a:gd name="adj" fmla="val 385149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489454" y="3700128"/>
            <a:ext cx="65058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monitor.py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42199" y="370012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23" name="Text 20"/>
          <p:cNvSpPr/>
          <p:nvPr/>
        </p:nvSpPr>
        <p:spPr>
          <a:xfrm>
            <a:off x="6242186" y="3943015"/>
            <a:ext cx="2366032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Poller, threshold state machine, trap receiver, alert dispatcher +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Telegram queue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696864" y="4716661"/>
            <a:ext cx="328613" cy="7144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139776" y="4639866"/>
            <a:ext cx="486433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i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implemented the protocol, </a:t>
            </a:r>
            <a:pPr algn="ctr" indent="0" marL="0">
              <a:lnSpc>
                <a:spcPts val="1266"/>
              </a:lnSpc>
              <a:buNone/>
            </a:pPr>
            <a:r>
              <a:rPr lang="en-US" sz="844" i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just a library call</a:t>
            </a:r>
            <a:pPr algn="ctr" indent="0" marL="0">
              <a:lnSpc>
                <a:spcPts val="1266"/>
              </a:lnSpc>
              <a:buNone/>
            </a:pPr>
            <a:r>
              <a:rPr lang="en-US" sz="844" i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every byte on the wire is ours and explainable.</a:t>
            </a:r>
            <a:endParaRPr lang="en-US" sz="844" dirty="0"/>
          </a:p>
        </p:txBody>
      </p:sp>
      <p:sp>
        <p:nvSpPr>
          <p:cNvPr id="26" name="Text 23"/>
          <p:cNvSpPr/>
          <p:nvPr/>
        </p:nvSpPr>
        <p:spPr>
          <a:xfrm>
            <a:off x="7118412" y="4716661"/>
            <a:ext cx="328613" cy="7144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338" y="371475"/>
            <a:ext cx="17977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1" kern="0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IMPLEMENTATION 3/3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775222" y="41344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60947" y="41344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46672" y="41344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4338" y="50542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23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 on transitions, not on values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4338" y="2040434"/>
            <a:ext cx="635124" cy="385763"/>
          </a:xfrm>
          <a:prstGeom prst="roundRect">
            <a:avLst>
              <a:gd name="adj" fmla="val 246666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8663" y="2152948"/>
            <a:ext cx="306512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1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528638" y="2158305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0" name="Text 8"/>
          <p:cNvSpPr/>
          <p:nvPr/>
        </p:nvSpPr>
        <p:spPr>
          <a:xfrm>
            <a:off x="1063749" y="2245816"/>
            <a:ext cx="356518" cy="17859"/>
          </a:xfrm>
          <a:prstGeom prst="roundRect">
            <a:avLst>
              <a:gd name="adj" fmla="val 106669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9462" y="2040434"/>
            <a:ext cx="435099" cy="597932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CPU ≥ 70%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MEM ≥ 75%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84561" y="2040434"/>
            <a:ext cx="1094668" cy="385763"/>
          </a:xfrm>
          <a:prstGeom prst="roundRect">
            <a:avLst>
              <a:gd name="adj" fmla="val 246666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98886" y="2152948"/>
            <a:ext cx="766056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WARNING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1598861" y="2158305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77" dirty="0"/>
          </a:p>
        </p:txBody>
      </p:sp>
      <p:sp>
        <p:nvSpPr>
          <p:cNvPr id="15" name="Text 13"/>
          <p:cNvSpPr/>
          <p:nvPr/>
        </p:nvSpPr>
        <p:spPr>
          <a:xfrm>
            <a:off x="2593516" y="2245816"/>
            <a:ext cx="356518" cy="17859"/>
          </a:xfrm>
          <a:prstGeom prst="roundRect">
            <a:avLst>
              <a:gd name="adj" fmla="val 106669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79229" y="2040434"/>
            <a:ext cx="435099" cy="597932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CPU ≥ 85%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MEM ≥ 90%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4328" y="2040434"/>
            <a:ext cx="1073460" cy="385763"/>
          </a:xfrm>
          <a:prstGeom prst="roundRect">
            <a:avLst>
              <a:gd name="adj" fmla="val 2466663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87263" y="2152948"/>
            <a:ext cx="841914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1" kern="0" dirty="0">
                <a:solidFill>
                  <a:srgbClr val="DC262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3128628" y="2158305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77" dirty="0"/>
          </a:p>
        </p:txBody>
      </p:sp>
      <p:sp>
        <p:nvSpPr>
          <p:cNvPr id="20" name="Shape 18"/>
          <p:cNvSpPr/>
          <p:nvPr/>
        </p:nvSpPr>
        <p:spPr>
          <a:xfrm>
            <a:off x="3537719" y="2722662"/>
            <a:ext cx="0" cy="285750"/>
          </a:xfrm>
          <a:prstGeom prst="line">
            <a:avLst/>
          </a:prstGeom>
          <a:noFill/>
          <a:ln w="14288">
            <a:solidFill>
              <a:srgbClr val="05966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14375" y="3001268"/>
            <a:ext cx="2830488" cy="0"/>
          </a:xfrm>
          <a:prstGeom prst="line">
            <a:avLst/>
          </a:prstGeom>
          <a:noFill/>
          <a:ln w="14288">
            <a:solidFill>
              <a:srgbClr val="05966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21519" y="2722662"/>
            <a:ext cx="0" cy="285750"/>
          </a:xfrm>
          <a:prstGeom prst="line">
            <a:avLst/>
          </a:prstGeom>
          <a:noFill/>
          <a:ln w="14288">
            <a:solidFill>
              <a:srgbClr val="05966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623272" y="2904649"/>
            <a:ext cx="1012694" cy="17002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46132" y="2913757"/>
            <a:ext cx="96697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28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 notice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4338" y="3222724"/>
            <a:ext cx="21431" cy="342900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8638" y="3222724"/>
            <a:ext cx="355915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state per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(device, metric)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alerts fire </a:t>
            </a:r>
            <a:pPr algn="l" indent="0" marL="0">
              <a:lnSpc>
                <a:spcPts val="1350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when the state changes.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291385" y="809030"/>
            <a:ext cx="4434706" cy="916632"/>
          </a:xfrm>
          <a:prstGeom prst="roundRect">
            <a:avLst>
              <a:gd name="adj" fmla="val 145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37831" y="1131615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37831" y="1131615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4823594" y="1095449"/>
            <a:ext cx="3727821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duplicates while a state persists</a:t>
            </a:r>
            <a:endParaRPr lang="en-US" sz="928" dirty="0"/>
          </a:p>
        </p:txBody>
      </p:sp>
      <p:sp>
        <p:nvSpPr>
          <p:cNvPr id="31" name="Text 29"/>
          <p:cNvSpPr/>
          <p:nvPr/>
        </p:nvSpPr>
        <p:spPr>
          <a:xfrm>
            <a:off x="4823594" y="1284312"/>
            <a:ext cx="3388928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Verified: exactly 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critical alert during a 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105-second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sustained CPU incident.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4291385" y="1832818"/>
            <a:ext cx="4434706" cy="916632"/>
          </a:xfrm>
          <a:prstGeom prst="roundRect">
            <a:avLst>
              <a:gd name="adj" fmla="val 145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37831" y="215540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37831" y="2155403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823594" y="2119238"/>
            <a:ext cx="3513810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Unreachability is its own alert</a:t>
            </a:r>
            <a:endParaRPr lang="en-US" sz="928" dirty="0"/>
          </a:p>
        </p:txBody>
      </p:sp>
      <p:sp>
        <p:nvSpPr>
          <p:cNvPr id="36" name="Text 34"/>
          <p:cNvSpPr/>
          <p:nvPr/>
        </p:nvSpPr>
        <p:spPr>
          <a:xfrm>
            <a:off x="4823594" y="2308101"/>
            <a:ext cx="3194372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SNMP timeout flags the device 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recovery when it answers again.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4291385" y="2856607"/>
            <a:ext cx="4434706" cy="916632"/>
          </a:xfrm>
          <a:prstGeom prst="roundRect">
            <a:avLst>
              <a:gd name="adj" fmla="val 145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37831" y="3179192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37831" y="3179192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4823594" y="3143027"/>
            <a:ext cx="3509758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Recovery notifications close the loop</a:t>
            </a:r>
            <a:endParaRPr lang="en-US" sz="928" dirty="0"/>
          </a:p>
        </p:txBody>
      </p:sp>
      <p:sp>
        <p:nvSpPr>
          <p:cNvPr id="41" name="Text 39"/>
          <p:cNvSpPr/>
          <p:nvPr/>
        </p:nvSpPr>
        <p:spPr>
          <a:xfrm>
            <a:off x="4823594" y="3331890"/>
            <a:ext cx="3190689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operator knows 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the incident is over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 just when it started.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4291385" y="3880396"/>
            <a:ext cx="4434706" cy="916632"/>
          </a:xfrm>
          <a:prstGeom prst="roundRect">
            <a:avLst>
              <a:gd name="adj" fmla="val 145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37831" y="4202981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37831" y="4202981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R4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4823594" y="4166815"/>
            <a:ext cx="2972481" cy="1614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alert is auditable</a:t>
            </a:r>
            <a:endParaRPr lang="en-US" sz="928" dirty="0"/>
          </a:p>
        </p:txBody>
      </p:sp>
      <p:sp>
        <p:nvSpPr>
          <p:cNvPr id="46" name="Text 44"/>
          <p:cNvSpPr/>
          <p:nvPr/>
        </p:nvSpPr>
        <p:spPr>
          <a:xfrm>
            <a:off x="4823594" y="4355678"/>
            <a:ext cx="2830934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Appended to 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alerts.jsonl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event + detection timestamps.</a:t>
            </a:r>
            <a:endParaRPr lang="en-US" sz="78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8087"/>
            <a:ext cx="242888" cy="14288"/>
          </a:xfrm>
          <a:prstGeom prst="roundRect">
            <a:avLst>
              <a:gd name="adj" fmla="val 133329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38" y="342900"/>
            <a:ext cx="51590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41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NOTIFICATION PLANE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558998"/>
            <a:ext cx="6036391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operator’s phone is the new NMS screen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8329613" y="342900"/>
            <a:ext cx="385763" cy="385763"/>
          </a:xfrm>
          <a:prstGeom prst="roundRect">
            <a:avLst>
              <a:gd name="adj" fmla="val 395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77476" y="390763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32197" y="1007715"/>
            <a:ext cx="4050506" cy="2591507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117023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821531" y="1139875"/>
            <a:ext cx="348615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 in 5 minutes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607219" y="1511461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219" y="1511461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78681" y="1534455"/>
            <a:ext cx="3429000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Talk to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@BotFather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/newbot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receive token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7219" y="1811722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219" y="1926134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219" y="1926134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8681" y="1949128"/>
            <a:ext cx="3429000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Press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your bot (any message)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7219" y="2226394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219" y="2340806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7219" y="234080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8681" y="2363800"/>
            <a:ext cx="3429000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 your chat id from </a:t>
            </a:r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api.telegram.org/bot&lt;TOKEN&gt;/getUpdates</a:t>
            </a:r>
            <a:endParaRPr lang="en-US" sz="759" dirty="0"/>
          </a:p>
        </p:txBody>
      </p:sp>
      <p:sp>
        <p:nvSpPr>
          <p:cNvPr id="21" name="Shape 19"/>
          <p:cNvSpPr/>
          <p:nvPr/>
        </p:nvSpPr>
        <p:spPr>
          <a:xfrm>
            <a:off x="607219" y="2641067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219" y="2755478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219" y="2755478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8681" y="2778472"/>
            <a:ext cx="3429000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TELEGRAM_BOT_TOKEN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TELEGRAM_CHAT_ID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7219" y="3055739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219" y="3170151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7219" y="3170151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78681" y="3193145"/>
            <a:ext cx="3429000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python3 bot.py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1297" y="1007715"/>
            <a:ext cx="4050506" cy="2591507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36319" y="117023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5050631" y="1139875"/>
            <a:ext cx="348615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Commands</a:t>
            </a:r>
            <a:endParaRPr lang="en-US" sz="1069" dirty="0"/>
          </a:p>
        </p:txBody>
      </p:sp>
      <p:sp>
        <p:nvSpPr>
          <p:cNvPr id="32" name="Text 30"/>
          <p:cNvSpPr/>
          <p:nvPr/>
        </p:nvSpPr>
        <p:spPr>
          <a:xfrm>
            <a:off x="4836319" y="1505318"/>
            <a:ext cx="504974" cy="198025"/>
          </a:xfrm>
          <a:prstGeom prst="roundRect">
            <a:avLst>
              <a:gd name="adj" fmla="val 288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36319" y="1515926"/>
            <a:ext cx="504974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27018" y="1518605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7043" y="1534455"/>
            <a:ext cx="290973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health table of all 6 devices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36319" y="1811722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6319" y="1919990"/>
            <a:ext cx="881249" cy="198025"/>
          </a:xfrm>
          <a:prstGeom prst="roundRect">
            <a:avLst>
              <a:gd name="adj" fmla="val 288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36319" y="1930598"/>
            <a:ext cx="881249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/cpu R2-Branch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03292" y="1933277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03317" y="1949128"/>
            <a:ext cx="2533464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SNMP poll, cpu + memory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36319" y="2226394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36319" y="2334662"/>
            <a:ext cx="827559" cy="198025"/>
          </a:xfrm>
          <a:prstGeom prst="roundRect">
            <a:avLst>
              <a:gd name="adj" fmla="val 288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25898" y="2345271"/>
            <a:ext cx="848401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/ifaces R3-HQ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749603" y="234795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9628" y="2363800"/>
            <a:ext cx="2587154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interface table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36319" y="2641067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6319" y="2749335"/>
            <a:ext cx="504974" cy="198025"/>
          </a:xfrm>
          <a:prstGeom prst="roundRect">
            <a:avLst>
              <a:gd name="adj" fmla="val 288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36319" y="2759943"/>
            <a:ext cx="504974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/alerts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27018" y="2762622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27043" y="2778472"/>
            <a:ext cx="2909739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timestamped history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36319" y="3055739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36319" y="3164007"/>
            <a:ext cx="558775" cy="198025"/>
          </a:xfrm>
          <a:prstGeom prst="roundRect">
            <a:avLst>
              <a:gd name="adj" fmla="val 288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36319" y="3174616"/>
            <a:ext cx="558775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/mute 30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480819" y="3177294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80844" y="3193145"/>
            <a:ext cx="2855937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silence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8625" y="38895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266" dirty="0"/>
          </a:p>
        </p:txBody>
      </p:sp>
      <p:sp>
        <p:nvSpPr>
          <p:cNvPr id="57" name="Text 55"/>
          <p:cNvSpPr/>
          <p:nvPr/>
        </p:nvSpPr>
        <p:spPr>
          <a:xfrm>
            <a:off x="614363" y="3892228"/>
            <a:ext cx="1514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90" kern="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ALERT FEED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8625" y="4060999"/>
            <a:ext cx="17002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Delivered to the operator’s chat in real time — no NMS console required.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45099" y="3745669"/>
            <a:ext cx="4170276" cy="317116"/>
          </a:xfrm>
          <a:prstGeom prst="roundRect">
            <a:avLst>
              <a:gd name="adj" fmla="val 4805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90500" dist="76200" dir="5400000">
              <a:srgbClr val="0F2A43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659399" y="3824250"/>
            <a:ext cx="3721644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🔴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CRITICAL — 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R2-Branch: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CPU = 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93%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(threshold 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85%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64917" y="3860974"/>
            <a:ext cx="4766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2F2F8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10:02:11</a:t>
            </a:r>
            <a:endParaRPr lang="en-US" sz="647" dirty="0"/>
          </a:p>
        </p:txBody>
      </p:sp>
      <p:sp>
        <p:nvSpPr>
          <p:cNvPr id="62" name="Text 60"/>
          <p:cNvSpPr/>
          <p:nvPr/>
        </p:nvSpPr>
        <p:spPr>
          <a:xfrm>
            <a:off x="5233243" y="4134222"/>
            <a:ext cx="3482132" cy="317116"/>
          </a:xfrm>
          <a:prstGeom prst="roundRect">
            <a:avLst>
              <a:gd name="adj" fmla="val 4805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90500" dist="76200" dir="5400000">
              <a:srgbClr val="0F2A43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347543" y="4212803"/>
            <a:ext cx="2978448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RESOLVED — 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R2-Branch: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CPU back to 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F2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64917" y="4249527"/>
            <a:ext cx="4766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2F2F8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10:02:47</a:t>
            </a:r>
            <a:endParaRPr lang="en-US" sz="647" dirty="0"/>
          </a:p>
        </p:txBody>
      </p:sp>
      <p:sp>
        <p:nvSpPr>
          <p:cNvPr id="65" name="Text 63"/>
          <p:cNvSpPr/>
          <p:nvPr/>
        </p:nvSpPr>
        <p:spPr>
          <a:xfrm>
            <a:off x="428625" y="4579925"/>
            <a:ext cx="8286750" cy="277825"/>
          </a:xfrm>
          <a:prstGeom prst="roundRect">
            <a:avLst>
              <a:gd name="adj" fmla="val 3428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42925" y="46544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67" name="Text 65"/>
          <p:cNvSpPr/>
          <p:nvPr/>
        </p:nvSpPr>
        <p:spPr>
          <a:xfrm>
            <a:off x="757238" y="4651363"/>
            <a:ext cx="7843838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Chat-authorized only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bot refuses other chats; the community string never leaves the lab host.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8087"/>
            <a:ext cx="242888" cy="14288"/>
          </a:xfrm>
          <a:prstGeom prst="roundRect">
            <a:avLst>
              <a:gd name="adj" fmla="val 133329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38" y="342900"/>
            <a:ext cx="7958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41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558998"/>
            <a:ext cx="8636000" cy="31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Measured, not claimed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32197" y="993428"/>
            <a:ext cx="1957388" cy="959495"/>
          </a:xfrm>
          <a:prstGeom prst="roundRect">
            <a:avLst>
              <a:gd name="adj" fmla="val 1389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4356" y="112558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564356" y="1339900"/>
            <a:ext cx="1693069" cy="337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22/22</a:t>
            </a:r>
            <a:endParaRPr lang="en-US" sz="2363" dirty="0"/>
          </a:p>
        </p:txBody>
      </p:sp>
      <p:sp>
        <p:nvSpPr>
          <p:cNvPr id="8" name="Text 6"/>
          <p:cNvSpPr/>
          <p:nvPr/>
        </p:nvSpPr>
        <p:spPr>
          <a:xfrm>
            <a:off x="564356" y="1704901"/>
            <a:ext cx="1693069" cy="13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checks passing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39603" y="993428"/>
            <a:ext cx="1957388" cy="959495"/>
          </a:xfrm>
          <a:prstGeom prst="roundRect">
            <a:avLst>
              <a:gd name="adj" fmla="val 1389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71763" y="112558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2671763" y="1339900"/>
            <a:ext cx="1693069" cy="337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2363" dirty="0"/>
          </a:p>
        </p:txBody>
      </p:sp>
      <p:sp>
        <p:nvSpPr>
          <p:cNvPr id="12" name="Text 10"/>
          <p:cNvSpPr/>
          <p:nvPr/>
        </p:nvSpPr>
        <p:spPr>
          <a:xfrm>
            <a:off x="2671763" y="1704901"/>
            <a:ext cx="1794653" cy="13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alerts in one incident drill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7009" y="993428"/>
            <a:ext cx="1957388" cy="959495"/>
          </a:xfrm>
          <a:prstGeom prst="roundRect">
            <a:avLst>
              <a:gd name="adj" fmla="val 1389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9169" y="112558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4779169" y="1339900"/>
            <a:ext cx="1693069" cy="337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 s</a:t>
            </a:r>
            <a:endParaRPr lang="en-US" sz="2363" dirty="0"/>
          </a:p>
        </p:txBody>
      </p:sp>
      <p:sp>
        <p:nvSpPr>
          <p:cNvPr id="16" name="Text 14"/>
          <p:cNvSpPr/>
          <p:nvPr/>
        </p:nvSpPr>
        <p:spPr>
          <a:xfrm>
            <a:off x="4779169" y="1704901"/>
            <a:ext cx="1693069" cy="13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trap-to-alert latency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54416" y="993428"/>
            <a:ext cx="1957388" cy="959495"/>
          </a:xfrm>
          <a:prstGeom prst="roundRect">
            <a:avLst>
              <a:gd name="adj" fmla="val 1389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6575" y="112558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6860990" y="1339900"/>
            <a:ext cx="1744238" cy="337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1.4–3.9 s</a:t>
            </a:r>
            <a:endParaRPr lang="en-US" sz="2363" dirty="0"/>
          </a:p>
        </p:txBody>
      </p:sp>
      <p:sp>
        <p:nvSpPr>
          <p:cNvPr id="20" name="Text 18"/>
          <p:cNvSpPr/>
          <p:nvPr/>
        </p:nvSpPr>
        <p:spPr>
          <a:xfrm>
            <a:off x="6886575" y="1704901"/>
            <a:ext cx="1794653" cy="13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poll-to-alert at 5 s interval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2197" y="2088654"/>
            <a:ext cx="8279606" cy="2351968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224045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336" dirty="0"/>
          </a:p>
        </p:txBody>
      </p:sp>
      <p:sp>
        <p:nvSpPr>
          <p:cNvPr id="23" name="Text 21"/>
          <p:cNvSpPr/>
          <p:nvPr/>
        </p:nvSpPr>
        <p:spPr>
          <a:xfrm>
            <a:off x="800100" y="2206526"/>
            <a:ext cx="133514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latency</a:t>
            </a:r>
            <a:endParaRPr lang="en-US" sz="1069" dirty="0"/>
          </a:p>
        </p:txBody>
      </p:sp>
      <p:sp>
        <p:nvSpPr>
          <p:cNvPr id="24" name="Text 22"/>
          <p:cNvSpPr/>
          <p:nvPr/>
        </p:nvSpPr>
        <p:spPr>
          <a:xfrm>
            <a:off x="6869385" y="2246709"/>
            <a:ext cx="178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poll interval 5 s · incident drill</a:t>
            </a:r>
            <a:endParaRPr lang="en-US" sz="647" dirty="0"/>
          </a:p>
        </p:txBody>
      </p:sp>
      <p:sp>
        <p:nvSpPr>
          <p:cNvPr id="25" name="Shape 23"/>
          <p:cNvSpPr/>
          <p:nvPr/>
        </p:nvSpPr>
        <p:spPr>
          <a:xfrm>
            <a:off x="592931" y="2697659"/>
            <a:ext cx="7958138" cy="0"/>
          </a:xfrm>
          <a:prstGeom prst="line">
            <a:avLst/>
          </a:prstGeom>
          <a:noFill/>
          <a:ln w="14288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081" y="2524423"/>
            <a:ext cx="641336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68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7731" y="2524423"/>
            <a:ext cx="171450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b="1" spc="68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1781" y="2524423"/>
            <a:ext cx="146201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b="1" spc="68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29373" y="2524423"/>
            <a:ext cx="136454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b="1" spc="68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2931" y="3031964"/>
            <a:ext cx="79581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081" y="2794211"/>
            <a:ext cx="49356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 CPU 78%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(warning)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50631" y="2794211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22.5 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2194" y="2794211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23.8 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13721" y="2794211"/>
            <a:ext cx="1580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 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2931" y="3362697"/>
            <a:ext cx="79581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081" y="3124944"/>
            <a:ext cx="49356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 CPU 93%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(critical)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50631" y="3124944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30.0 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22194" y="3124944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33.9 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13721" y="3124944"/>
            <a:ext cx="1580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3.9 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2931" y="3366269"/>
            <a:ext cx="7958138" cy="330733"/>
          </a:xfrm>
          <a:prstGeom prst="roundRect">
            <a:avLst>
              <a:gd name="adj" fmla="val 2304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92931" y="3693430"/>
            <a:ext cx="79581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0081" y="3455677"/>
            <a:ext cx="49356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 Gi0/0 link down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(trap)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50631" y="3455677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40.0 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22194" y="3455677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40.4 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13721" y="3455677"/>
            <a:ext cx="1580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 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2931" y="4024164"/>
            <a:ext cx="79581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081" y="3786411"/>
            <a:ext cx="49356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 memory 81%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(warning)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50631" y="3786411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57.5 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2194" y="3786411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58.9 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13721" y="3786411"/>
            <a:ext cx="1580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 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0081" y="4117144"/>
            <a:ext cx="49356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 CPU recovery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50631" y="4117144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82.5 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22194" y="4117144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83.9 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13721" y="4117144"/>
            <a:ext cx="1580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 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28625" y="4558494"/>
            <a:ext cx="8286750" cy="299256"/>
          </a:xfrm>
          <a:prstGeom prst="roundRect">
            <a:avLst>
              <a:gd name="adj" fmla="val 3182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57213" y="46437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7" name="Text 55"/>
          <p:cNvSpPr/>
          <p:nvPr/>
        </p:nvSpPr>
        <p:spPr>
          <a:xfrm>
            <a:off x="771525" y="4637075"/>
            <a:ext cx="7815263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test_system.py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one command, 2.5 minutes, rerunnable evidence: protocol self-test, agent bring-up, incident drill, bot handlers.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8087"/>
            <a:ext cx="242888" cy="14288"/>
          </a:xfrm>
          <a:prstGeom prst="roundRect">
            <a:avLst>
              <a:gd name="adj" fmla="val 133329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38" y="342900"/>
            <a:ext cx="7958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41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558998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minutes from healthy to hero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20440" y="2684822"/>
            <a:ext cx="7103120" cy="21431"/>
          </a:xfrm>
          <a:prstGeom prst="roundRect">
            <a:avLst>
              <a:gd name="adj" fmla="val 13333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8231" y="1851013"/>
            <a:ext cx="1064419" cy="598177"/>
          </a:xfrm>
          <a:prstGeom prst="roundRect">
            <a:avLst>
              <a:gd name="adj" fmla="val 1592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40" y="1926022"/>
            <a:ext cx="914400" cy="14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 boot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0380" y="2088577"/>
            <a:ext cx="960120" cy="298405"/>
          </a:xfrm>
          <a:prstGeom prst="roundRect">
            <a:avLst>
              <a:gd name="adj" fmla="val 19152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3240" y="2101379"/>
            <a:ext cx="914400" cy="272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coldStart traps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13296" y="2452762"/>
            <a:ext cx="14288" cy="185738"/>
          </a:xfrm>
          <a:prstGeom prst="rect">
            <a:avLst/>
          </a:prstGeom>
          <a:solidFill>
            <a:srgbClr val="0891B2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72084" y="2941997"/>
            <a:ext cx="1064419" cy="608558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47093" y="3017007"/>
            <a:ext cx="914400" cy="2732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 CPU climbs to 78%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24233" y="3308244"/>
            <a:ext cx="960120" cy="176772"/>
          </a:xfrm>
          <a:prstGeom prst="roundRect">
            <a:avLst>
              <a:gd name="adj" fmla="val 3233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47093" y="3317714"/>
            <a:ext cx="91440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⚠️ WARNING alert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97150" y="2752688"/>
            <a:ext cx="14288" cy="185738"/>
          </a:xfrm>
          <a:prstGeom prst="rect">
            <a:avLst/>
          </a:prstGeom>
          <a:solidFill>
            <a:srgbClr val="0891B2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55937" y="1965982"/>
            <a:ext cx="1064419" cy="483208"/>
          </a:xfrm>
          <a:prstGeom prst="roundRect">
            <a:avLst>
              <a:gd name="adj" fmla="val 1971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30947" y="2040992"/>
            <a:ext cx="914400" cy="14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 CPU 93%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08087" y="2206879"/>
            <a:ext cx="960120" cy="176772"/>
          </a:xfrm>
          <a:prstGeom prst="roundRect">
            <a:avLst>
              <a:gd name="adj" fmla="val 3233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30947" y="2216348"/>
            <a:ext cx="91440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🔴</a:t>
            </a:r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CRITICAL alert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1003" y="2452762"/>
            <a:ext cx="14288" cy="185738"/>
          </a:xfrm>
          <a:prstGeom prst="rect">
            <a:avLst/>
          </a:prstGeom>
          <a:solidFill>
            <a:srgbClr val="0891B2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39679" y="2941997"/>
            <a:ext cx="1064419" cy="608558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14688" y="3017007"/>
            <a:ext cx="914400" cy="2732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 Gi0/0 goes down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91828" y="3308244"/>
            <a:ext cx="960120" cy="176772"/>
          </a:xfrm>
          <a:prstGeom prst="roundRect">
            <a:avLst>
              <a:gd name="adj" fmla="val 3233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14688" y="3317714"/>
            <a:ext cx="91440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trap alert in 0.4 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64745" y="2752688"/>
            <a:ext cx="14288" cy="185738"/>
          </a:xfrm>
          <a:prstGeom prst="rect">
            <a:avLst/>
          </a:prstGeom>
          <a:solidFill>
            <a:srgbClr val="0891B2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23532" y="1840632"/>
            <a:ext cx="1064419" cy="608558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98542" y="1915641"/>
            <a:ext cx="914400" cy="273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 memory pressure 81%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75682" y="2206879"/>
            <a:ext cx="960120" cy="176772"/>
          </a:xfrm>
          <a:prstGeom prst="roundRect">
            <a:avLst>
              <a:gd name="adj" fmla="val 3233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8542" y="2216348"/>
            <a:ext cx="91440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 warning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48598" y="2452762"/>
            <a:ext cx="14288" cy="185738"/>
          </a:xfrm>
          <a:prstGeom prst="rect">
            <a:avLst/>
          </a:prstGeom>
          <a:solidFill>
            <a:srgbClr val="0891B2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07386" y="2941997"/>
            <a:ext cx="1064419" cy="483208"/>
          </a:xfrm>
          <a:prstGeom prst="roundRect">
            <a:avLst>
              <a:gd name="adj" fmla="val 1971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82395" y="3017007"/>
            <a:ext cx="914400" cy="14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759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 link recovers</a:t>
            </a:r>
            <a:endParaRPr lang="en-US" sz="759" dirty="0"/>
          </a:p>
        </p:txBody>
      </p:sp>
      <p:sp>
        <p:nvSpPr>
          <p:cNvPr id="33" name="Text 31"/>
          <p:cNvSpPr/>
          <p:nvPr/>
        </p:nvSpPr>
        <p:spPr>
          <a:xfrm>
            <a:off x="6459535" y="3182893"/>
            <a:ext cx="960120" cy="176772"/>
          </a:xfrm>
          <a:prstGeom prst="roundRect">
            <a:avLst>
              <a:gd name="adj" fmla="val 3233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82395" y="3192363"/>
            <a:ext cx="91440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✅ LINK UP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32451" y="2752688"/>
            <a:ext cx="14288" cy="185738"/>
          </a:xfrm>
          <a:prstGeom prst="rect">
            <a:avLst/>
          </a:prstGeom>
          <a:solidFill>
            <a:srgbClr val="0891B2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591127" y="1965982"/>
            <a:ext cx="1064419" cy="483208"/>
          </a:xfrm>
          <a:prstGeom prst="roundRect">
            <a:avLst>
              <a:gd name="adj" fmla="val 1971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66137" y="2040992"/>
            <a:ext cx="914400" cy="14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 CPU cools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43277" y="2206879"/>
            <a:ext cx="960120" cy="176772"/>
          </a:xfrm>
          <a:prstGeom prst="roundRect">
            <a:avLst>
              <a:gd name="adj" fmla="val 3233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666137" y="2216348"/>
            <a:ext cx="91440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RESOLVED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16193" y="2452762"/>
            <a:ext cx="14288" cy="185738"/>
          </a:xfrm>
          <a:prstGeom prst="rect">
            <a:avLst/>
          </a:prstGeom>
          <a:solidFill>
            <a:srgbClr val="0891B2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28625" y="4544206"/>
            <a:ext cx="8286750" cy="313544"/>
          </a:xfrm>
          <a:prstGeom prst="roundRect">
            <a:avLst>
              <a:gd name="adj" fmla="val 42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28625" y="4547778"/>
            <a:ext cx="8286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11803" y="4544206"/>
            <a:ext cx="0" cy="3135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8625" y="4854178"/>
            <a:ext cx="8286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2913" y="4544206"/>
            <a:ext cx="0" cy="313544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788" y="46366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800100" y="4629931"/>
            <a:ext cx="7779544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it yourself: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./run_demo.sh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agents + engine + bot, alerts arrive on your phone in real time.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82811" y="2809838"/>
            <a:ext cx="4404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0:00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66665" y="2409899"/>
            <a:ext cx="4404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0:45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50518" y="2809838"/>
            <a:ext cx="4404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434260" y="2409899"/>
            <a:ext cx="4404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1:20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18113" y="2809838"/>
            <a:ext cx="4404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1:55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01966" y="2409899"/>
            <a:ext cx="4404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2:20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985708" y="2809838"/>
            <a:ext cx="4404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2:45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74006" y="2649103"/>
            <a:ext cx="92869" cy="92869"/>
          </a:xfrm>
          <a:prstGeom prst="ellipse">
            <a:avLst/>
          </a:prstGeom>
          <a:solidFill>
            <a:srgbClr val="0891B2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157859" y="2649103"/>
            <a:ext cx="92869" cy="92869"/>
          </a:xfrm>
          <a:prstGeom prst="ellipse">
            <a:avLst/>
          </a:prstGeom>
          <a:solidFill>
            <a:srgbClr val="0891B2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341712" y="2649103"/>
            <a:ext cx="92869" cy="92869"/>
          </a:xfrm>
          <a:prstGeom prst="ellipse">
            <a:avLst/>
          </a:prstGeom>
          <a:solidFill>
            <a:srgbClr val="0891B2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525454" y="2649103"/>
            <a:ext cx="92869" cy="92869"/>
          </a:xfrm>
          <a:prstGeom prst="ellipse">
            <a:avLst/>
          </a:prstGeom>
          <a:solidFill>
            <a:srgbClr val="0891B2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709307" y="2649103"/>
            <a:ext cx="92869" cy="92869"/>
          </a:xfrm>
          <a:prstGeom prst="ellipse">
            <a:avLst/>
          </a:prstGeom>
          <a:solidFill>
            <a:srgbClr val="0891B2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893161" y="2649103"/>
            <a:ext cx="92869" cy="92869"/>
          </a:xfrm>
          <a:prstGeom prst="ellipse">
            <a:avLst/>
          </a:prstGeom>
          <a:solidFill>
            <a:srgbClr val="0891B2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076902" y="2649103"/>
            <a:ext cx="92869" cy="92869"/>
          </a:xfrm>
          <a:prstGeom prst="ellipse">
            <a:avLst/>
          </a:prstGeom>
          <a:solidFill>
            <a:srgbClr val="0891B2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8087"/>
            <a:ext cx="242888" cy="14288"/>
          </a:xfrm>
          <a:prstGeom prst="roundRect">
            <a:avLst>
              <a:gd name="adj" fmla="val 133329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38" y="342900"/>
            <a:ext cx="7958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41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558998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was built — and where it goes next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32197" y="1007715"/>
            <a:ext cx="4280111" cy="3817888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18095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7" name="Text 5"/>
          <p:cNvSpPr/>
          <p:nvPr/>
        </p:nvSpPr>
        <p:spPr>
          <a:xfrm>
            <a:off x="842963" y="1154162"/>
            <a:ext cx="3680036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Delivered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621506" y="16670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864394" y="1572853"/>
            <a:ext cx="3658605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Full lab in Packet Tracer 8.2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12 devices, SNMP on all 6 routers/switches, opens with zero manual config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506" y="2065660"/>
            <a:ext cx="390149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506" y="232138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864394" y="2227176"/>
            <a:ext cx="3658605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SNMPv2c implemented at protocol level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BER codec, PDUs, traps, zero dependencies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506" y="2719983"/>
            <a:ext cx="390149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06" y="297570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864394" y="2881499"/>
            <a:ext cx="3658605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Production-shaped engine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switching to real hardware means editing endpoints in one YAML file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506" y="3374306"/>
            <a:ext cx="390149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506" y="363003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864394" y="3618644"/>
            <a:ext cx="3658605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Sub-second trap alerting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verified end-to-end 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(0.4 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506" y="4028629"/>
            <a:ext cx="390149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506" y="428435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1" name="Text 19"/>
          <p:cNvSpPr/>
          <p:nvPr/>
        </p:nvSpPr>
        <p:spPr>
          <a:xfrm>
            <a:off x="864394" y="4272967"/>
            <a:ext cx="3658605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Telegram control plane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live SNMP commands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0901" y="1007715"/>
            <a:ext cx="3820902" cy="3817888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80211" y="118095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77" dirty="0"/>
          </a:p>
        </p:txBody>
      </p:sp>
      <p:sp>
        <p:nvSpPr>
          <p:cNvPr id="24" name="Text 22"/>
          <p:cNvSpPr/>
          <p:nvPr/>
        </p:nvSpPr>
        <p:spPr>
          <a:xfrm>
            <a:off x="5301667" y="1154162"/>
            <a:ext cx="3220827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work</a:t>
            </a:r>
            <a:endParaRPr lang="en-US" sz="1069" dirty="0"/>
          </a:p>
        </p:txBody>
      </p:sp>
      <p:sp>
        <p:nvSpPr>
          <p:cNvPr id="25" name="Text 23"/>
          <p:cNvSpPr/>
          <p:nvPr/>
        </p:nvSpPr>
        <p:spPr>
          <a:xfrm>
            <a:off x="5080211" y="167733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F2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480261" y="1654559"/>
            <a:ext cx="3042233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SNMPv3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authentication &amp; privacy, engine is already modular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80211" y="2229185"/>
            <a:ext cx="344228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0211" y="249517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F2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480261" y="2472407"/>
            <a:ext cx="3042233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 + Grafana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from alerts to dashboards (RRD / InfluxDB)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80211" y="3047033"/>
            <a:ext cx="344228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0211" y="331302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F2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480261" y="3290255"/>
            <a:ext cx="3042233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migration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GNS3 or real routers, path documented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80211" y="3864880"/>
            <a:ext cx="344228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0211" y="413087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F2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5480261" y="4108103"/>
            <a:ext cx="3042233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Anomaly detection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auto-learned baselines instead of static thresholds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3213" y="1035844"/>
            <a:ext cx="2190787" cy="331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8"/>
              </a:lnSpc>
              <a:buNone/>
            </a:pPr>
            <a:r>
              <a:rPr lang="en-US" sz="24188" b="1" dirty="0">
                <a:solidFill>
                  <a:srgbClr val="0F2A43">
                    <a:alpha val="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lang="en-US" sz="24188" dirty="0"/>
          </a:p>
        </p:txBody>
      </p:sp>
      <p:sp>
        <p:nvSpPr>
          <p:cNvPr id="3" name="Text 1"/>
          <p:cNvSpPr/>
          <p:nvPr/>
        </p:nvSpPr>
        <p:spPr>
          <a:xfrm>
            <a:off x="4343400" y="1620180"/>
            <a:ext cx="457200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5771" y="1898786"/>
            <a:ext cx="10661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41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157747"/>
            <a:ext cx="8595248" cy="45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41"/>
              </a:lnSpc>
              <a:buNone/>
            </a:pPr>
            <a:r>
              <a:rPr lang="en-US" sz="3038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&amp; Discussion</a:t>
            </a:r>
            <a:endParaRPr lang="en-US" sz="3038" dirty="0"/>
          </a:p>
        </p:txBody>
      </p:sp>
      <p:sp>
        <p:nvSpPr>
          <p:cNvPr id="6" name="Text 4"/>
          <p:cNvSpPr/>
          <p:nvPr/>
        </p:nvSpPr>
        <p:spPr>
          <a:xfrm>
            <a:off x="3338252" y="2710607"/>
            <a:ext cx="2664775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devices, two alert planes, one phone.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3468737" y="3099941"/>
            <a:ext cx="23829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[student@example.edu] • [University]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43400" y="3501777"/>
            <a:ext cx="457200" cy="21431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14215" y="469612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95" dirty="0"/>
          </a:p>
        </p:txBody>
      </p:sp>
      <p:sp>
        <p:nvSpPr>
          <p:cNvPr id="10" name="Text 8"/>
          <p:cNvSpPr/>
          <p:nvPr/>
        </p:nvSpPr>
        <p:spPr>
          <a:xfrm>
            <a:off x="2307096" y="4684514"/>
            <a:ext cx="6836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technical report (PDF), the Packet Tracer lab file and the complete source code are in the project package.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2026-10-15T21:51:07Z</dcterms:created>
  <dcterms:modified xsi:type="dcterms:W3CDTF">2026-10-15T21:51:07Z</dcterms:modified>
</cp:coreProperties>
</file>